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Roboto"/>
      <p:regular r:id="rId74"/>
      <p:bold r:id="rId75"/>
      <p:italic r:id="rId76"/>
      <p:boldItalic r:id="rId77"/>
    </p:embeddedFont>
    <p:embeddedFont>
      <p:font typeface="Barlow Condensed Medium"/>
      <p:regular r:id="rId78"/>
      <p:bold r:id="rId79"/>
      <p:italic r:id="rId80"/>
      <p:boldItalic r:id="rId81"/>
    </p:embeddedFont>
    <p:embeddedFont>
      <p:font typeface="Lato Light"/>
      <p:regular r:id="rId82"/>
      <p:bold r:id="rId83"/>
      <p:italic r:id="rId84"/>
      <p:boldItalic r:id="rId85"/>
    </p:embeddedFont>
    <p:embeddedFont>
      <p:font typeface="Barlow Condensed"/>
      <p:regular r:id="rId86"/>
      <p:bold r:id="rId87"/>
      <p:italic r:id="rId88"/>
      <p:boldItalic r:id="rId89"/>
    </p:embeddedFont>
    <p:embeddedFont>
      <p:font typeface="Barlow Medium"/>
      <p:regular r:id="rId90"/>
      <p:bold r:id="rId91"/>
      <p:italic r:id="rId92"/>
      <p:boldItalic r:id="rId93"/>
    </p:embeddedFont>
    <p:embeddedFont>
      <p:font typeface="Helvetica Neue"/>
      <p:regular r:id="rId94"/>
      <p:bold r:id="rId95"/>
      <p:italic r:id="rId96"/>
      <p:boldItalic r:id="rId97"/>
    </p:embeddedFont>
    <p:embeddedFont>
      <p:font typeface="Barlow SemiBold"/>
      <p:regular r:id="rId98"/>
      <p:bold r:id="rId99"/>
      <p:italic r:id="rId100"/>
      <p:boldItalic r:id="rId101"/>
    </p:embeddedFont>
    <p:embeddedFont>
      <p:font typeface="Kalam"/>
      <p:regular r:id="rId102"/>
      <p:bold r:id="rId103"/>
    </p:embeddedFont>
    <p:embeddedFont>
      <p:font typeface="Barlow"/>
      <p:regular r:id="rId104"/>
      <p:bold r:id="rId105"/>
      <p:italic r:id="rId106"/>
      <p:boldItalic r:id="rId10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5213B3-F16B-40E9-90FE-E62AE806B23E}">
  <a:tblStyle styleId="{F25213B3-F16B-40E9-90FE-E62AE806B2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756C531-8D6E-475B-BB3C-A63F1548008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Barlow-boldItalic.fntdata"/><Relationship Id="rId106" Type="http://schemas.openxmlformats.org/officeDocument/2006/relationships/font" Target="fonts/Barlow-italic.fntdata"/><Relationship Id="rId105" Type="http://schemas.openxmlformats.org/officeDocument/2006/relationships/font" Target="fonts/Barlow-bold.fntdata"/><Relationship Id="rId104" Type="http://schemas.openxmlformats.org/officeDocument/2006/relationships/font" Target="fonts/Barlow-regular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Kalam-bold.fntdata"/><Relationship Id="rId102" Type="http://schemas.openxmlformats.org/officeDocument/2006/relationships/font" Target="fonts/Kalam-regular.fntdata"/><Relationship Id="rId101" Type="http://schemas.openxmlformats.org/officeDocument/2006/relationships/font" Target="fonts/BarlowSemiBold-boldItalic.fntdata"/><Relationship Id="rId100" Type="http://schemas.openxmlformats.org/officeDocument/2006/relationships/font" Target="fonts/BarlowSemiBold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HelveticaNeue-bold.fntdata"/><Relationship Id="rId94" Type="http://schemas.openxmlformats.org/officeDocument/2006/relationships/font" Target="fonts/HelveticaNeue-regular.fntdata"/><Relationship Id="rId97" Type="http://schemas.openxmlformats.org/officeDocument/2006/relationships/font" Target="fonts/HelveticaNeue-boldItalic.fntdata"/><Relationship Id="rId96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99" Type="http://schemas.openxmlformats.org/officeDocument/2006/relationships/font" Target="fonts/BarlowSemiBold-bold.fntdata"/><Relationship Id="rId10" Type="http://schemas.openxmlformats.org/officeDocument/2006/relationships/slide" Target="slides/slide4.xml"/><Relationship Id="rId98" Type="http://schemas.openxmlformats.org/officeDocument/2006/relationships/font" Target="fonts/BarlowSemiBo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BarlowMedium-bold.fntdata"/><Relationship Id="rId90" Type="http://schemas.openxmlformats.org/officeDocument/2006/relationships/font" Target="fonts/BarlowMedium-regular.fntdata"/><Relationship Id="rId93" Type="http://schemas.openxmlformats.org/officeDocument/2006/relationships/font" Target="fonts/BarlowMedium-boldItalic.fntdata"/><Relationship Id="rId92" Type="http://schemas.openxmlformats.org/officeDocument/2006/relationships/font" Target="fonts/BarlowMedium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LatoLight-italic.fntdata"/><Relationship Id="rId83" Type="http://schemas.openxmlformats.org/officeDocument/2006/relationships/font" Target="fonts/LatoLight-bold.fntdata"/><Relationship Id="rId86" Type="http://schemas.openxmlformats.org/officeDocument/2006/relationships/font" Target="fonts/BarlowCondensed-regular.fntdata"/><Relationship Id="rId85" Type="http://schemas.openxmlformats.org/officeDocument/2006/relationships/font" Target="fonts/LatoLight-boldItalic.fntdata"/><Relationship Id="rId88" Type="http://schemas.openxmlformats.org/officeDocument/2006/relationships/font" Target="fonts/BarlowCondensed-italic.fntdata"/><Relationship Id="rId87" Type="http://schemas.openxmlformats.org/officeDocument/2006/relationships/font" Target="fonts/BarlowCondensed-bold.fntdata"/><Relationship Id="rId89" Type="http://schemas.openxmlformats.org/officeDocument/2006/relationships/font" Target="fonts/BarlowCondensed-boldItalic.fntdata"/><Relationship Id="rId80" Type="http://schemas.openxmlformats.org/officeDocument/2006/relationships/font" Target="fonts/BarlowCondensedMedium-italic.fntdata"/><Relationship Id="rId82" Type="http://schemas.openxmlformats.org/officeDocument/2006/relationships/font" Target="fonts/LatoLight-regular.fntdata"/><Relationship Id="rId81" Type="http://schemas.openxmlformats.org/officeDocument/2006/relationships/font" Target="fonts/BarlowCondensed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font" Target="fonts/Roboto-bold.fntdata"/><Relationship Id="rId74" Type="http://schemas.openxmlformats.org/officeDocument/2006/relationships/font" Target="fonts/Roboto-regular.fntdata"/><Relationship Id="rId77" Type="http://schemas.openxmlformats.org/officeDocument/2006/relationships/font" Target="fonts/Roboto-boldItalic.fntdata"/><Relationship Id="rId76" Type="http://schemas.openxmlformats.org/officeDocument/2006/relationships/font" Target="fonts/Roboto-italic.fntdata"/><Relationship Id="rId79" Type="http://schemas.openxmlformats.org/officeDocument/2006/relationships/font" Target="fonts/BarlowCondensedMedium-bold.fntdata"/><Relationship Id="rId78" Type="http://schemas.openxmlformats.org/officeDocument/2006/relationships/font" Target="fonts/BarlowCondensedMedium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aafb76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dfaafb76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f36af67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f36af67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faafb76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faafb76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0c2232563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0c2232563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f36af67e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df36af67e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f36af67e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f36af67e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f36af67e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f36af67e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f36af67e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f36af67e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aafb76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dfaafb76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146621558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e146621558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146621558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146621558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faafb766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dfaafb766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14662155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14662155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ab0b7bbb7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ab0b7bbb7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ab0b7bbb7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9ab0b7bbb7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ab0b7bbb7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9ab0b7bbb7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ab0b7bbb7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9ab0b7bbb7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ab0b7bbb7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9ab0b7bbb7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ab0b7bbb7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9ab0b7bbb7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ab0b7bbb7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9ab0b7bbb7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146621558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e146621558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1466215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e1466215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ab0b7bbb7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9ab0b7bbb7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146621558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e146621558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0c22325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0c22325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0c223256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e0c223256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146621558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e146621558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146621558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e146621558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11e4825a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e11e4825a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11e4825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e11e4825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0c223256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e0c223256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0c223256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e0c223256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0c223256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e0c223256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9ab0b7bbb7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9ab0b7bbb7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9ab0b7bbb7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9ab0b7bbb7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0c223256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e0c223256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0c223256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e0c223256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0c223256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e0c223256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0c223256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e0c223256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0c223256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e0c223256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e0c223256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e0c223256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e0c223256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e0c223256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17da7ab1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e17da7ab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e0c223256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3e0c223256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17da7ab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e17da7ab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0c2232563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e0c2232563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e0c223256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e0c223256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0c2232563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e0c2232563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0c2232563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g3e0c2232563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e0c223256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g3e0c223256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e0c2232563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g3e0c2232563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e0c2232563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e0c2232563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e0c2232563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g3e0c223256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e0c2232563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3e0c2232563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0c2232563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e0c2232563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e0c2232563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e0c2232563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e17da7ab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g3e17da7ab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0c2232563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g3e0c2232563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0c2232563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e0c2232563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1_1_1_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4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4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14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14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631475" y="398550"/>
            <a:ext cx="4346400" cy="43464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508450" y="398550"/>
            <a:ext cx="4346400" cy="43464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 rot="-5400000">
            <a:off x="-10327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 rot="5400000">
            <a:off x="1639450" y="4575975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 rot="5400000">
            <a:off x="24973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EF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54850" y="1349375"/>
            <a:ext cx="39171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EF7E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DEFESA</a:t>
            </a:r>
            <a:endParaRPr b="1" i="1" sz="5400">
              <a:solidFill>
                <a:srgbClr val="FEF7EE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EF7E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MPES 23.2</a:t>
            </a:r>
            <a:endParaRPr b="1" i="1" sz="5400">
              <a:solidFill>
                <a:srgbClr val="FEF7EE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54850" y="3030275"/>
            <a:ext cx="3917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202</a:t>
            </a:r>
            <a:r>
              <a:rPr lang="pt-BR" sz="1600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6</a:t>
            </a:r>
            <a:r>
              <a:rPr b="0" i="0" lang="pt-BR" sz="1600" u="none" cap="none" strike="noStrike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 | MA</a:t>
            </a:r>
            <a:r>
              <a:rPr lang="pt-BR" sz="1600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I</a:t>
            </a:r>
            <a:r>
              <a:rPr b="0" i="0" lang="pt-BR" sz="1600" u="none" cap="none" strike="noStrike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O</a:t>
            </a:r>
            <a:endParaRPr b="0" i="0" sz="1600" u="none" cap="none" strike="noStrike">
              <a:solidFill>
                <a:srgbClr val="FEF7EE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29" l="0" r="0" t="29"/>
          <a:stretch/>
        </p:blipFill>
        <p:spPr>
          <a:xfrm>
            <a:off x="755925" y="657575"/>
            <a:ext cx="556575" cy="49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Gemini_Generated_Image_u0au2eu0au2eu0au.png"/>
          <p:cNvPicPr preferRelativeResize="0"/>
          <p:nvPr/>
        </p:nvPicPr>
        <p:blipFill rotWithShape="1">
          <a:blip r:embed="rId3">
            <a:alphaModFix/>
          </a:blip>
          <a:srcRect b="3148" l="5709" r="1912" t="26730"/>
          <a:stretch/>
        </p:blipFill>
        <p:spPr>
          <a:xfrm>
            <a:off x="5340150" y="0"/>
            <a:ext cx="3257975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654850" y="1349375"/>
            <a:ext cx="39171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27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INTEGRAÇÃO ENTRE PLATAFORMAS COLABORATIVAS E INTELIGÊNCIA ARTIFICIAL NA ENGENHARIA DE REQUISITOS: um estudo com strateegia.</a:t>
            </a:r>
            <a:endParaRPr b="1" i="1" sz="27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54850" y="3653925"/>
            <a:ext cx="3917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191919"/>
                </a:solidFill>
                <a:latin typeface="Barlow Medium"/>
                <a:ea typeface="Barlow Medium"/>
                <a:cs typeface="Barlow Medium"/>
                <a:sym typeface="Barlow Medium"/>
              </a:rPr>
              <a:t>Aluno: Manoel Vieira Salgado Neto</a:t>
            </a:r>
            <a:endParaRPr sz="1600">
              <a:solidFill>
                <a:srgbClr val="191919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>
                <a:solidFill>
                  <a:srgbClr val="191919"/>
                </a:solidFill>
                <a:latin typeface="Barlow Medium"/>
                <a:ea typeface="Barlow Medium"/>
                <a:cs typeface="Barlow Medium"/>
                <a:sym typeface="Barlow Medium"/>
              </a:rPr>
              <a:t>Orientador: Allan Rodrigo dos Santos Araújo</a:t>
            </a:r>
            <a:endParaRPr sz="1600">
              <a:solidFill>
                <a:srgbClr val="191919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191919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5">
            <a:alphaModFix/>
          </a:blip>
          <a:srcRect b="0" l="0" r="38007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 rot="-5400000">
            <a:off x="8818225" y="2618575"/>
            <a:ext cx="1775400" cy="17490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7" title="IMG_20260427_163617_646.jpg"/>
          <p:cNvPicPr preferRelativeResize="0"/>
          <p:nvPr/>
        </p:nvPicPr>
        <p:blipFill rotWithShape="1">
          <a:blip r:embed="rId3">
            <a:alphaModFix/>
          </a:blip>
          <a:srcRect b="0" l="9723" r="9723" t="0"/>
          <a:stretch/>
        </p:blipFill>
        <p:spPr>
          <a:xfrm>
            <a:off x="5487850" y="-34775"/>
            <a:ext cx="3150900" cy="5215200"/>
          </a:xfrm>
          <a:prstGeom prst="round1Rect">
            <a:avLst>
              <a:gd fmla="val 37521" name="adj"/>
            </a:avLst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 rot="5400000">
            <a:off x="696645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 rot="5400000">
            <a:off x="1091950" y="221950"/>
            <a:ext cx="763200" cy="2947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527275" y="2196200"/>
            <a:ext cx="43473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Mestrando em Engenharia de Software pela CESAR School, tecnólogo em Análise e Desenvolvimento de Sistemas pelo Senac e bacharel em Ciência Política com ênfase em Relações Internacionais pela UFPE.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Atuo como Desenvolvedor Front-end, tenho interesse pelas áreas de Engenharia de Requisitos e de Inteligência Artificial.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27275" y="1062600"/>
            <a:ext cx="2202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1" lang="pt-BR" sz="33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Manoel Salgado</a:t>
            </a:r>
            <a:endParaRPr b="0" i="0" sz="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27275" y="839100"/>
            <a:ext cx="22020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pt-BR" sz="1600" u="none" cap="none" strike="noStrike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OI, EU SOU</a:t>
            </a:r>
            <a:endParaRPr b="0" i="0" sz="2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575" y="507150"/>
            <a:ext cx="1288650" cy="12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 flipH="1">
            <a:off x="0" y="-14875"/>
            <a:ext cx="2491500" cy="5158500"/>
          </a:xfrm>
          <a:prstGeom prst="round1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8" title="Gemini_Generated_Image_1tebie1tebie1teb.png"/>
          <p:cNvPicPr preferRelativeResize="0"/>
          <p:nvPr/>
        </p:nvPicPr>
        <p:blipFill rotWithShape="1">
          <a:blip r:embed="rId3">
            <a:alphaModFix/>
          </a:blip>
          <a:srcRect b="2823" l="2390" r="2390" t="12143"/>
          <a:stretch/>
        </p:blipFill>
        <p:spPr>
          <a:xfrm>
            <a:off x="1274950" y="297150"/>
            <a:ext cx="2417700" cy="4549200"/>
          </a:xfrm>
          <a:prstGeom prst="roundRect">
            <a:avLst>
              <a:gd fmla="val 50000" name="adj"/>
            </a:avLst>
          </a:prstGeom>
          <a:noFill/>
          <a:ln cap="flat" cmpd="sng" w="762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/>
        </p:nvSpPr>
        <p:spPr>
          <a:xfrm>
            <a:off x="4697025" y="794300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 - INTRODUÇÃO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697025" y="1459100"/>
            <a:ext cx="4347300" cy="23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Problema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Motivação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Perguntas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Objetivos 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Justificativa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AutoNum type="arabicPeriod"/>
            </a:pPr>
            <a:r>
              <a:rPr lang="pt-BR" sz="2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Estrutura da Dissertação</a:t>
            </a:r>
            <a:endParaRPr sz="2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" name="Google Shape;108;p18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30" l="0" r="0" t="30"/>
          <a:stretch/>
        </p:blipFill>
        <p:spPr>
          <a:xfrm>
            <a:off x="395525" y="297150"/>
            <a:ext cx="556575" cy="49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484675" y="1616313"/>
            <a:ext cx="8009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Engenharia de Requisitos representa o alicerce crítico do desenvolvimento de software,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pois falhas na definição de serviços e restrições impactam diretamente a qualidade final e a viabilidade econômica do projeto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b="0" i="0" sz="13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84675" y="716338"/>
            <a:ext cx="3801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674257" y="2461425"/>
            <a:ext cx="1373400" cy="1273200"/>
          </a:xfrm>
          <a:prstGeom prst="ellipse">
            <a:avLst/>
          </a:prstGeom>
          <a:solidFill>
            <a:srgbClr val="FF6002"/>
          </a:solidFill>
          <a:ln cap="flat" cmpd="sng" w="7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5"/>
          </a:p>
        </p:txBody>
      </p:sp>
      <p:sp>
        <p:nvSpPr>
          <p:cNvPr id="121" name="Google Shape;121;p19"/>
          <p:cNvSpPr txBox="1"/>
          <p:nvPr/>
        </p:nvSpPr>
        <p:spPr>
          <a:xfrm>
            <a:off x="1961673" y="2826031"/>
            <a:ext cx="7986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800" lIns="74800" spcFirstLastPara="1" rIns="74800" wrap="square" tIns="748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lang="pt-BR" sz="319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13%</a:t>
            </a:r>
            <a:endParaRPr b="0" i="0" sz="57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3880150" y="2461425"/>
            <a:ext cx="1373400" cy="1273200"/>
          </a:xfrm>
          <a:prstGeom prst="ellipse">
            <a:avLst/>
          </a:prstGeom>
          <a:solidFill>
            <a:srgbClr val="FF6002"/>
          </a:solidFill>
          <a:ln cap="flat" cmpd="sng" w="7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5"/>
          </a:p>
        </p:txBody>
      </p:sp>
      <p:sp>
        <p:nvSpPr>
          <p:cNvPr id="123" name="Google Shape;123;p19"/>
          <p:cNvSpPr txBox="1"/>
          <p:nvPr/>
        </p:nvSpPr>
        <p:spPr>
          <a:xfrm>
            <a:off x="3880150" y="2629554"/>
            <a:ext cx="1373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800" lIns="74800" spcFirstLastPara="1" rIns="74800" wrap="square" tIns="748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lang="pt-BR" sz="319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100 vezes</a:t>
            </a:r>
            <a:endParaRPr b="0" i="0" sz="57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6037117" y="2461425"/>
            <a:ext cx="1373400" cy="1273200"/>
          </a:xfrm>
          <a:prstGeom prst="ellipse">
            <a:avLst/>
          </a:prstGeom>
          <a:solidFill>
            <a:srgbClr val="FF6002"/>
          </a:solidFill>
          <a:ln cap="flat" cmpd="sng" w="7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5"/>
          </a:p>
        </p:txBody>
      </p:sp>
      <p:sp>
        <p:nvSpPr>
          <p:cNvPr id="125" name="Google Shape;125;p19"/>
          <p:cNvSpPr txBox="1"/>
          <p:nvPr/>
        </p:nvSpPr>
        <p:spPr>
          <a:xfrm>
            <a:off x="6279125" y="2826031"/>
            <a:ext cx="8895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800" lIns="74800" spcFirstLastPara="1" rIns="74800" wrap="square" tIns="748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lang="pt-BR" sz="319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45%</a:t>
            </a:r>
            <a:endParaRPr b="0" i="0" sz="57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568225" y="3843476"/>
            <a:ext cx="15855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00" lIns="74800" spcFirstLastPara="1" rIns="74800" wrap="square" tIns="748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82"/>
              </a:spcBef>
              <a:spcAft>
                <a:spcPts val="982"/>
              </a:spcAft>
              <a:buClr>
                <a:srgbClr val="000000"/>
              </a:buClr>
              <a:buSzPts val="982"/>
              <a:buFont typeface="Arial"/>
              <a:buNone/>
            </a:pP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Dos projetos são </a:t>
            </a:r>
            <a:r>
              <a:rPr b="1"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cancelados</a:t>
            </a: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por requisitos incompletos (SOMMERVILLE, 2018)</a:t>
            </a:r>
            <a:endParaRPr b="0" i="0" sz="1064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880150" y="3843476"/>
            <a:ext cx="13734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00" lIns="74800" spcFirstLastPara="1" rIns="74800" wrap="square" tIns="748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982"/>
              </a:spcBef>
              <a:spcAft>
                <a:spcPts val="982"/>
              </a:spcAft>
              <a:buNone/>
            </a:pP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É o </a:t>
            </a:r>
            <a:r>
              <a:rPr b="1"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aumento do custo</a:t>
            </a: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quando erros de requisitos são detectados apenas na fase de operação.</a:t>
            </a:r>
            <a:endParaRPr sz="1145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6037117" y="3843476"/>
            <a:ext cx="13734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00" lIns="74800" spcFirstLastPara="1" rIns="74800" wrap="square" tIns="748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982"/>
              </a:spcBef>
              <a:spcAft>
                <a:spcPts val="982"/>
              </a:spcAft>
              <a:buNone/>
            </a:pP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Das funcionalidades desenvolvidas </a:t>
            </a:r>
            <a:r>
              <a:rPr b="1"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nunca serão utilizadas</a:t>
            </a:r>
            <a:r>
              <a:rPr lang="pt-BR" sz="1064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por causa de maus requisitos.</a:t>
            </a:r>
            <a:endParaRPr sz="1145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675425" y="909400"/>
            <a:ext cx="3207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MOTIVAÇÃO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1608375" y="207710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DE MERCADO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1538800" y="2574525"/>
            <a:ext cx="32079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Redução de Custos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Agilidade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749600" y="2613088"/>
            <a:ext cx="32079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Qualidade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Sinergia Híbrida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20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0"/>
          <p:cNvGrpSpPr/>
          <p:nvPr/>
        </p:nvGrpSpPr>
        <p:grpSpPr>
          <a:xfrm>
            <a:off x="1189918" y="3279372"/>
            <a:ext cx="345974" cy="345974"/>
            <a:chOff x="1937609" y="649425"/>
            <a:chExt cx="345974" cy="345974"/>
          </a:xfrm>
        </p:grpSpPr>
        <p:sp>
          <p:nvSpPr>
            <p:cNvPr id="141" name="Google Shape;141;p20"/>
            <p:cNvSpPr/>
            <p:nvPr/>
          </p:nvSpPr>
          <p:spPr>
            <a:xfrm>
              <a:off x="1983211" y="694981"/>
              <a:ext cx="254812" cy="254812"/>
            </a:xfrm>
            <a:custGeom>
              <a:rect b="b" l="l" r="r" t="t"/>
              <a:pathLst>
                <a:path extrusionOk="0" h="5677" w="5677">
                  <a:moveTo>
                    <a:pt x="2838" y="852"/>
                  </a:moveTo>
                  <a:cubicBezTo>
                    <a:pt x="2943" y="852"/>
                    <a:pt x="3032" y="927"/>
                    <a:pt x="3032" y="1031"/>
                  </a:cubicBezTo>
                  <a:lnTo>
                    <a:pt x="3032" y="2644"/>
                  </a:lnTo>
                  <a:lnTo>
                    <a:pt x="4093" y="2644"/>
                  </a:lnTo>
                  <a:cubicBezTo>
                    <a:pt x="4197" y="2644"/>
                    <a:pt x="4287" y="2734"/>
                    <a:pt x="4287" y="2839"/>
                  </a:cubicBezTo>
                  <a:cubicBezTo>
                    <a:pt x="4287" y="2943"/>
                    <a:pt x="4197" y="3018"/>
                    <a:pt x="4093" y="3018"/>
                  </a:cubicBezTo>
                  <a:lnTo>
                    <a:pt x="2838" y="3018"/>
                  </a:lnTo>
                  <a:cubicBezTo>
                    <a:pt x="2734" y="3018"/>
                    <a:pt x="2659" y="2943"/>
                    <a:pt x="2659" y="2839"/>
                  </a:cubicBezTo>
                  <a:lnTo>
                    <a:pt x="2659" y="1031"/>
                  </a:lnTo>
                  <a:cubicBezTo>
                    <a:pt x="2659" y="927"/>
                    <a:pt x="2734" y="852"/>
                    <a:pt x="2838" y="852"/>
                  </a:cubicBezTo>
                  <a:close/>
                  <a:moveTo>
                    <a:pt x="2659" y="1"/>
                  </a:moveTo>
                  <a:cubicBezTo>
                    <a:pt x="2017" y="46"/>
                    <a:pt x="1434" y="300"/>
                    <a:pt x="971" y="703"/>
                  </a:cubicBezTo>
                  <a:lnTo>
                    <a:pt x="1121" y="837"/>
                  </a:lnTo>
                  <a:cubicBezTo>
                    <a:pt x="1195" y="912"/>
                    <a:pt x="1195" y="1031"/>
                    <a:pt x="1121" y="1106"/>
                  </a:cubicBezTo>
                  <a:cubicBezTo>
                    <a:pt x="1076" y="1151"/>
                    <a:pt x="1031" y="1166"/>
                    <a:pt x="986" y="1166"/>
                  </a:cubicBezTo>
                  <a:cubicBezTo>
                    <a:pt x="941" y="1166"/>
                    <a:pt x="897" y="1151"/>
                    <a:pt x="852" y="1106"/>
                  </a:cubicBezTo>
                  <a:lnTo>
                    <a:pt x="702" y="957"/>
                  </a:lnTo>
                  <a:cubicBezTo>
                    <a:pt x="299" y="1420"/>
                    <a:pt x="45" y="2002"/>
                    <a:pt x="0" y="2644"/>
                  </a:cubicBezTo>
                  <a:lnTo>
                    <a:pt x="224" y="2644"/>
                  </a:lnTo>
                  <a:cubicBezTo>
                    <a:pt x="329" y="2644"/>
                    <a:pt x="419" y="2734"/>
                    <a:pt x="419" y="2839"/>
                  </a:cubicBezTo>
                  <a:cubicBezTo>
                    <a:pt x="419" y="2943"/>
                    <a:pt x="329" y="3018"/>
                    <a:pt x="224" y="3018"/>
                  </a:cubicBezTo>
                  <a:lnTo>
                    <a:pt x="0" y="3018"/>
                  </a:lnTo>
                  <a:cubicBezTo>
                    <a:pt x="45" y="3660"/>
                    <a:pt x="299" y="4243"/>
                    <a:pt x="702" y="4706"/>
                  </a:cubicBezTo>
                  <a:lnTo>
                    <a:pt x="852" y="4541"/>
                  </a:lnTo>
                  <a:cubicBezTo>
                    <a:pt x="889" y="4504"/>
                    <a:pt x="938" y="4485"/>
                    <a:pt x="986" y="4485"/>
                  </a:cubicBezTo>
                  <a:cubicBezTo>
                    <a:pt x="1035" y="4485"/>
                    <a:pt x="1083" y="4504"/>
                    <a:pt x="1121" y="4541"/>
                  </a:cubicBezTo>
                  <a:cubicBezTo>
                    <a:pt x="1195" y="4616"/>
                    <a:pt x="1195" y="4735"/>
                    <a:pt x="1121" y="4810"/>
                  </a:cubicBezTo>
                  <a:lnTo>
                    <a:pt x="956" y="4960"/>
                  </a:lnTo>
                  <a:cubicBezTo>
                    <a:pt x="1419" y="5378"/>
                    <a:pt x="2002" y="5632"/>
                    <a:pt x="2659" y="5676"/>
                  </a:cubicBezTo>
                  <a:lnTo>
                    <a:pt x="2659" y="5452"/>
                  </a:lnTo>
                  <a:cubicBezTo>
                    <a:pt x="2659" y="5348"/>
                    <a:pt x="2734" y="5273"/>
                    <a:pt x="2838" y="5273"/>
                  </a:cubicBezTo>
                  <a:cubicBezTo>
                    <a:pt x="2943" y="5273"/>
                    <a:pt x="3032" y="5348"/>
                    <a:pt x="3032" y="5452"/>
                  </a:cubicBezTo>
                  <a:lnTo>
                    <a:pt x="3032" y="5676"/>
                  </a:lnTo>
                  <a:cubicBezTo>
                    <a:pt x="3675" y="5632"/>
                    <a:pt x="4257" y="5378"/>
                    <a:pt x="4720" y="4974"/>
                  </a:cubicBezTo>
                  <a:lnTo>
                    <a:pt x="4571" y="4825"/>
                  </a:lnTo>
                  <a:cubicBezTo>
                    <a:pt x="4496" y="4750"/>
                    <a:pt x="4496" y="4631"/>
                    <a:pt x="4571" y="4556"/>
                  </a:cubicBezTo>
                  <a:cubicBezTo>
                    <a:pt x="4608" y="4519"/>
                    <a:pt x="4657" y="4500"/>
                    <a:pt x="4705" y="4500"/>
                  </a:cubicBezTo>
                  <a:cubicBezTo>
                    <a:pt x="4754" y="4500"/>
                    <a:pt x="4802" y="4519"/>
                    <a:pt x="4840" y="4556"/>
                  </a:cubicBezTo>
                  <a:lnTo>
                    <a:pt x="4989" y="4706"/>
                  </a:lnTo>
                  <a:cubicBezTo>
                    <a:pt x="5377" y="4258"/>
                    <a:pt x="5631" y="3660"/>
                    <a:pt x="5676" y="3018"/>
                  </a:cubicBezTo>
                  <a:lnTo>
                    <a:pt x="5482" y="3018"/>
                  </a:lnTo>
                  <a:cubicBezTo>
                    <a:pt x="5377" y="3018"/>
                    <a:pt x="5288" y="2943"/>
                    <a:pt x="5288" y="2839"/>
                  </a:cubicBezTo>
                  <a:cubicBezTo>
                    <a:pt x="5288" y="2734"/>
                    <a:pt x="5377" y="2644"/>
                    <a:pt x="5482" y="2644"/>
                  </a:cubicBezTo>
                  <a:lnTo>
                    <a:pt x="5676" y="2644"/>
                  </a:lnTo>
                  <a:cubicBezTo>
                    <a:pt x="5631" y="2002"/>
                    <a:pt x="5377" y="1420"/>
                    <a:pt x="4974" y="957"/>
                  </a:cubicBezTo>
                  <a:lnTo>
                    <a:pt x="4840" y="1091"/>
                  </a:lnTo>
                  <a:cubicBezTo>
                    <a:pt x="4795" y="1121"/>
                    <a:pt x="4750" y="1151"/>
                    <a:pt x="4705" y="1151"/>
                  </a:cubicBezTo>
                  <a:cubicBezTo>
                    <a:pt x="4660" y="1151"/>
                    <a:pt x="4616" y="1121"/>
                    <a:pt x="4571" y="1091"/>
                  </a:cubicBezTo>
                  <a:cubicBezTo>
                    <a:pt x="4496" y="1016"/>
                    <a:pt x="4496" y="897"/>
                    <a:pt x="4571" y="822"/>
                  </a:cubicBezTo>
                  <a:lnTo>
                    <a:pt x="4705" y="688"/>
                  </a:lnTo>
                  <a:cubicBezTo>
                    <a:pt x="4257" y="300"/>
                    <a:pt x="3675" y="46"/>
                    <a:pt x="3032" y="1"/>
                  </a:cubicBezTo>
                  <a:lnTo>
                    <a:pt x="3032" y="195"/>
                  </a:lnTo>
                  <a:cubicBezTo>
                    <a:pt x="3032" y="300"/>
                    <a:pt x="2943" y="389"/>
                    <a:pt x="2838" y="389"/>
                  </a:cubicBezTo>
                  <a:cubicBezTo>
                    <a:pt x="2734" y="389"/>
                    <a:pt x="2659" y="300"/>
                    <a:pt x="2659" y="195"/>
                  </a:cubicBezTo>
                  <a:lnTo>
                    <a:pt x="2659" y="1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1937609" y="649425"/>
              <a:ext cx="345974" cy="345974"/>
            </a:xfrm>
            <a:custGeom>
              <a:rect b="b" l="l" r="r" t="t"/>
              <a:pathLst>
                <a:path extrusionOk="0" h="7708" w="7708">
                  <a:moveTo>
                    <a:pt x="3854" y="642"/>
                  </a:moveTo>
                  <a:cubicBezTo>
                    <a:pt x="5632" y="642"/>
                    <a:pt x="7080" y="2076"/>
                    <a:pt x="7080" y="3854"/>
                  </a:cubicBezTo>
                  <a:cubicBezTo>
                    <a:pt x="7080" y="5631"/>
                    <a:pt x="5632" y="7065"/>
                    <a:pt x="3854" y="7065"/>
                  </a:cubicBezTo>
                  <a:cubicBezTo>
                    <a:pt x="2092" y="7065"/>
                    <a:pt x="643" y="5631"/>
                    <a:pt x="643" y="3854"/>
                  </a:cubicBezTo>
                  <a:cubicBezTo>
                    <a:pt x="643" y="2076"/>
                    <a:pt x="2092" y="642"/>
                    <a:pt x="3854" y="642"/>
                  </a:cubicBezTo>
                  <a:close/>
                  <a:moveTo>
                    <a:pt x="3854" y="0"/>
                  </a:moveTo>
                  <a:cubicBezTo>
                    <a:pt x="1733" y="0"/>
                    <a:pt x="1" y="1733"/>
                    <a:pt x="1" y="3854"/>
                  </a:cubicBezTo>
                  <a:cubicBezTo>
                    <a:pt x="1" y="5975"/>
                    <a:pt x="1733" y="7707"/>
                    <a:pt x="3854" y="7707"/>
                  </a:cubicBezTo>
                  <a:cubicBezTo>
                    <a:pt x="5990" y="7707"/>
                    <a:pt x="7708" y="5975"/>
                    <a:pt x="7708" y="3854"/>
                  </a:cubicBezTo>
                  <a:cubicBezTo>
                    <a:pt x="7708" y="1733"/>
                    <a:pt x="5990" y="0"/>
                    <a:pt x="3854" y="0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20"/>
          <p:cNvGrpSpPr/>
          <p:nvPr/>
        </p:nvGrpSpPr>
        <p:grpSpPr>
          <a:xfrm>
            <a:off x="4429408" y="3364071"/>
            <a:ext cx="282783" cy="311466"/>
            <a:chOff x="7324421" y="4654672"/>
            <a:chExt cx="282783" cy="311466"/>
          </a:xfrm>
        </p:grpSpPr>
        <p:sp>
          <p:nvSpPr>
            <p:cNvPr id="144" name="Google Shape;144;p20"/>
            <p:cNvSpPr/>
            <p:nvPr/>
          </p:nvSpPr>
          <p:spPr>
            <a:xfrm>
              <a:off x="7352492" y="4839324"/>
              <a:ext cx="48778" cy="49156"/>
            </a:xfrm>
            <a:custGeom>
              <a:rect b="b" l="l" r="r" t="t"/>
              <a:pathLst>
                <a:path extrusionOk="0" h="1002" w="987">
                  <a:moveTo>
                    <a:pt x="493" y="1"/>
                  </a:moveTo>
                  <a:cubicBezTo>
                    <a:pt x="225" y="1"/>
                    <a:pt x="0" y="225"/>
                    <a:pt x="0" y="493"/>
                  </a:cubicBezTo>
                  <a:cubicBezTo>
                    <a:pt x="0" y="777"/>
                    <a:pt x="225" y="1001"/>
                    <a:pt x="493" y="1001"/>
                  </a:cubicBezTo>
                  <a:cubicBezTo>
                    <a:pt x="777" y="1001"/>
                    <a:pt x="986" y="777"/>
                    <a:pt x="986" y="493"/>
                  </a:cubicBezTo>
                  <a:cubicBezTo>
                    <a:pt x="986" y="225"/>
                    <a:pt x="777" y="1"/>
                    <a:pt x="493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7324421" y="4906729"/>
              <a:ext cx="104128" cy="59409"/>
            </a:xfrm>
            <a:custGeom>
              <a:rect b="b" l="l" r="r" t="t"/>
              <a:pathLst>
                <a:path extrusionOk="0" h="1211" w="2107">
                  <a:moveTo>
                    <a:pt x="807" y="1"/>
                  </a:moveTo>
                  <a:cubicBezTo>
                    <a:pt x="419" y="1"/>
                    <a:pt x="105" y="270"/>
                    <a:pt x="61" y="643"/>
                  </a:cubicBezTo>
                  <a:lnTo>
                    <a:pt x="16" y="1076"/>
                  </a:lnTo>
                  <a:cubicBezTo>
                    <a:pt x="1" y="1136"/>
                    <a:pt x="61" y="1210"/>
                    <a:pt x="135" y="1210"/>
                  </a:cubicBezTo>
                  <a:lnTo>
                    <a:pt x="1987" y="1210"/>
                  </a:lnTo>
                  <a:cubicBezTo>
                    <a:pt x="2047" y="1210"/>
                    <a:pt x="2107" y="1136"/>
                    <a:pt x="2107" y="1076"/>
                  </a:cubicBezTo>
                  <a:lnTo>
                    <a:pt x="2047" y="643"/>
                  </a:lnTo>
                  <a:cubicBezTo>
                    <a:pt x="2002" y="270"/>
                    <a:pt x="1689" y="1"/>
                    <a:pt x="1315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7531098" y="4654672"/>
              <a:ext cx="48778" cy="48420"/>
            </a:xfrm>
            <a:custGeom>
              <a:rect b="b" l="l" r="r" t="t"/>
              <a:pathLst>
                <a:path extrusionOk="0" h="987" w="987">
                  <a:moveTo>
                    <a:pt x="494" y="1"/>
                  </a:moveTo>
                  <a:cubicBezTo>
                    <a:pt x="225" y="1"/>
                    <a:pt x="1" y="225"/>
                    <a:pt x="1" y="494"/>
                  </a:cubicBezTo>
                  <a:cubicBezTo>
                    <a:pt x="1" y="777"/>
                    <a:pt x="225" y="987"/>
                    <a:pt x="494" y="987"/>
                  </a:cubicBezTo>
                  <a:cubicBezTo>
                    <a:pt x="763" y="987"/>
                    <a:pt x="987" y="777"/>
                    <a:pt x="987" y="494"/>
                  </a:cubicBezTo>
                  <a:cubicBezTo>
                    <a:pt x="987" y="225"/>
                    <a:pt x="763" y="1"/>
                    <a:pt x="494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7503076" y="4721341"/>
              <a:ext cx="104128" cy="60144"/>
            </a:xfrm>
            <a:custGeom>
              <a:rect b="b" l="l" r="r" t="t"/>
              <a:pathLst>
                <a:path extrusionOk="0" h="1226" w="2107">
                  <a:moveTo>
                    <a:pt x="792" y="1"/>
                  </a:moveTo>
                  <a:cubicBezTo>
                    <a:pt x="419" y="1"/>
                    <a:pt x="105" y="285"/>
                    <a:pt x="60" y="658"/>
                  </a:cubicBezTo>
                  <a:lnTo>
                    <a:pt x="0" y="1076"/>
                  </a:lnTo>
                  <a:cubicBezTo>
                    <a:pt x="0" y="1151"/>
                    <a:pt x="60" y="1226"/>
                    <a:pt x="135" y="1226"/>
                  </a:cubicBezTo>
                  <a:lnTo>
                    <a:pt x="1972" y="1226"/>
                  </a:lnTo>
                  <a:cubicBezTo>
                    <a:pt x="2047" y="1226"/>
                    <a:pt x="2106" y="1151"/>
                    <a:pt x="2091" y="1076"/>
                  </a:cubicBezTo>
                  <a:lnTo>
                    <a:pt x="2047" y="658"/>
                  </a:lnTo>
                  <a:cubicBezTo>
                    <a:pt x="2002" y="285"/>
                    <a:pt x="1688" y="1"/>
                    <a:pt x="1315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7328128" y="4671695"/>
              <a:ext cx="184584" cy="163263"/>
            </a:xfrm>
            <a:custGeom>
              <a:rect b="b" l="l" r="r" t="t"/>
              <a:pathLst>
                <a:path extrusionOk="0" h="3328" w="3735">
                  <a:moveTo>
                    <a:pt x="2788" y="1"/>
                  </a:moveTo>
                  <a:cubicBezTo>
                    <a:pt x="2176" y="1"/>
                    <a:pt x="1589" y="208"/>
                    <a:pt x="1106" y="580"/>
                  </a:cubicBezTo>
                  <a:cubicBezTo>
                    <a:pt x="508" y="1028"/>
                    <a:pt x="135" y="1685"/>
                    <a:pt x="30" y="2432"/>
                  </a:cubicBezTo>
                  <a:cubicBezTo>
                    <a:pt x="1" y="2671"/>
                    <a:pt x="1" y="2925"/>
                    <a:pt x="30" y="3164"/>
                  </a:cubicBezTo>
                  <a:cubicBezTo>
                    <a:pt x="45" y="3253"/>
                    <a:pt x="135" y="3328"/>
                    <a:pt x="225" y="3328"/>
                  </a:cubicBezTo>
                  <a:cubicBezTo>
                    <a:pt x="225" y="3328"/>
                    <a:pt x="240" y="3328"/>
                    <a:pt x="240" y="3313"/>
                  </a:cubicBezTo>
                  <a:cubicBezTo>
                    <a:pt x="344" y="3313"/>
                    <a:pt x="419" y="3208"/>
                    <a:pt x="404" y="3104"/>
                  </a:cubicBezTo>
                  <a:cubicBezTo>
                    <a:pt x="374" y="2895"/>
                    <a:pt x="374" y="2686"/>
                    <a:pt x="404" y="2477"/>
                  </a:cubicBezTo>
                  <a:cubicBezTo>
                    <a:pt x="493" y="1834"/>
                    <a:pt x="822" y="1267"/>
                    <a:pt x="1330" y="879"/>
                  </a:cubicBezTo>
                  <a:cubicBezTo>
                    <a:pt x="1748" y="547"/>
                    <a:pt x="2246" y="377"/>
                    <a:pt x="2767" y="377"/>
                  </a:cubicBezTo>
                  <a:cubicBezTo>
                    <a:pt x="2880" y="377"/>
                    <a:pt x="2993" y="385"/>
                    <a:pt x="3107" y="401"/>
                  </a:cubicBezTo>
                  <a:cubicBezTo>
                    <a:pt x="3227" y="415"/>
                    <a:pt x="3346" y="430"/>
                    <a:pt x="3466" y="475"/>
                  </a:cubicBezTo>
                  <a:cubicBezTo>
                    <a:pt x="3479" y="477"/>
                    <a:pt x="3492" y="478"/>
                    <a:pt x="3505" y="478"/>
                  </a:cubicBezTo>
                  <a:cubicBezTo>
                    <a:pt x="3595" y="478"/>
                    <a:pt x="3679" y="432"/>
                    <a:pt x="3705" y="341"/>
                  </a:cubicBezTo>
                  <a:cubicBezTo>
                    <a:pt x="3735" y="236"/>
                    <a:pt x="3675" y="147"/>
                    <a:pt x="3570" y="117"/>
                  </a:cubicBezTo>
                  <a:cubicBezTo>
                    <a:pt x="3436" y="72"/>
                    <a:pt x="3301" y="42"/>
                    <a:pt x="3167" y="27"/>
                  </a:cubicBezTo>
                  <a:cubicBezTo>
                    <a:pt x="3040" y="9"/>
                    <a:pt x="2913" y="1"/>
                    <a:pt x="2788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7446984" y="4798312"/>
              <a:ext cx="157254" cy="147320"/>
            </a:xfrm>
            <a:custGeom>
              <a:rect b="b" l="l" r="r" t="t"/>
              <a:pathLst>
                <a:path extrusionOk="0" h="3003" w="3182">
                  <a:moveTo>
                    <a:pt x="3002" y="0"/>
                  </a:moveTo>
                  <a:cubicBezTo>
                    <a:pt x="2898" y="0"/>
                    <a:pt x="2808" y="90"/>
                    <a:pt x="2808" y="179"/>
                  </a:cubicBezTo>
                  <a:cubicBezTo>
                    <a:pt x="2808" y="299"/>
                    <a:pt x="2808" y="403"/>
                    <a:pt x="2793" y="523"/>
                  </a:cubicBezTo>
                  <a:cubicBezTo>
                    <a:pt x="2629" y="1733"/>
                    <a:pt x="1598" y="2629"/>
                    <a:pt x="404" y="2629"/>
                  </a:cubicBezTo>
                  <a:cubicBezTo>
                    <a:pt x="344" y="2629"/>
                    <a:pt x="269" y="2629"/>
                    <a:pt x="209" y="2614"/>
                  </a:cubicBezTo>
                  <a:cubicBezTo>
                    <a:pt x="105" y="2614"/>
                    <a:pt x="15" y="2689"/>
                    <a:pt x="15" y="2793"/>
                  </a:cubicBezTo>
                  <a:cubicBezTo>
                    <a:pt x="0" y="2898"/>
                    <a:pt x="75" y="2987"/>
                    <a:pt x="179" y="2987"/>
                  </a:cubicBezTo>
                  <a:cubicBezTo>
                    <a:pt x="254" y="2987"/>
                    <a:pt x="329" y="3002"/>
                    <a:pt x="404" y="3002"/>
                  </a:cubicBezTo>
                  <a:cubicBezTo>
                    <a:pt x="1793" y="3002"/>
                    <a:pt x="2972" y="1972"/>
                    <a:pt x="3152" y="568"/>
                  </a:cubicBezTo>
                  <a:cubicBezTo>
                    <a:pt x="3182" y="448"/>
                    <a:pt x="3182" y="314"/>
                    <a:pt x="3182" y="179"/>
                  </a:cubicBezTo>
                  <a:cubicBezTo>
                    <a:pt x="3182" y="75"/>
                    <a:pt x="3092" y="0"/>
                    <a:pt x="3002" y="0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20"/>
          <p:cNvGrpSpPr/>
          <p:nvPr/>
        </p:nvGrpSpPr>
        <p:grpSpPr>
          <a:xfrm>
            <a:off x="1186487" y="2527064"/>
            <a:ext cx="352857" cy="347301"/>
            <a:chOff x="2404875" y="3592725"/>
            <a:chExt cx="298525" cy="293825"/>
          </a:xfrm>
        </p:grpSpPr>
        <p:sp>
          <p:nvSpPr>
            <p:cNvPr id="151" name="Google Shape;151;p20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4376068" y="2576531"/>
            <a:ext cx="389453" cy="398978"/>
            <a:chOff x="4213502" y="1620116"/>
            <a:chExt cx="329905" cy="325856"/>
          </a:xfrm>
        </p:grpSpPr>
        <p:sp>
          <p:nvSpPr>
            <p:cNvPr id="155" name="Google Shape;155;p20"/>
            <p:cNvSpPr/>
            <p:nvPr/>
          </p:nvSpPr>
          <p:spPr>
            <a:xfrm>
              <a:off x="4243663" y="1689820"/>
              <a:ext cx="269579" cy="168992"/>
            </a:xfrm>
            <a:custGeom>
              <a:rect b="b" l="l" r="r" t="t"/>
              <a:pathLst>
                <a:path extrusionOk="0" h="3765" w="6006">
                  <a:moveTo>
                    <a:pt x="5004" y="374"/>
                  </a:moveTo>
                  <a:cubicBezTo>
                    <a:pt x="5124" y="374"/>
                    <a:pt x="5214" y="464"/>
                    <a:pt x="5214" y="568"/>
                  </a:cubicBezTo>
                  <a:lnTo>
                    <a:pt x="5214" y="1315"/>
                  </a:lnTo>
                  <a:cubicBezTo>
                    <a:pt x="5214" y="1420"/>
                    <a:pt x="5124" y="1509"/>
                    <a:pt x="5004" y="1509"/>
                  </a:cubicBezTo>
                  <a:cubicBezTo>
                    <a:pt x="4900" y="1509"/>
                    <a:pt x="4810" y="1420"/>
                    <a:pt x="4810" y="1315"/>
                  </a:cubicBezTo>
                  <a:lnTo>
                    <a:pt x="4810" y="1031"/>
                  </a:lnTo>
                  <a:lnTo>
                    <a:pt x="3152" y="2585"/>
                  </a:lnTo>
                  <a:cubicBezTo>
                    <a:pt x="3107" y="2621"/>
                    <a:pt x="3051" y="2640"/>
                    <a:pt x="2997" y="2640"/>
                  </a:cubicBezTo>
                  <a:cubicBezTo>
                    <a:pt x="2962" y="2640"/>
                    <a:pt x="2928" y="2632"/>
                    <a:pt x="2898" y="2614"/>
                  </a:cubicBezTo>
                  <a:lnTo>
                    <a:pt x="1838" y="1942"/>
                  </a:lnTo>
                  <a:lnTo>
                    <a:pt x="748" y="2958"/>
                  </a:lnTo>
                  <a:cubicBezTo>
                    <a:pt x="703" y="3003"/>
                    <a:pt x="658" y="3018"/>
                    <a:pt x="598" y="3018"/>
                  </a:cubicBezTo>
                  <a:cubicBezTo>
                    <a:pt x="554" y="3018"/>
                    <a:pt x="509" y="3003"/>
                    <a:pt x="464" y="2958"/>
                  </a:cubicBezTo>
                  <a:cubicBezTo>
                    <a:pt x="389" y="2883"/>
                    <a:pt x="389" y="2764"/>
                    <a:pt x="464" y="2689"/>
                  </a:cubicBezTo>
                  <a:lnTo>
                    <a:pt x="1659" y="1569"/>
                  </a:lnTo>
                  <a:cubicBezTo>
                    <a:pt x="1701" y="1527"/>
                    <a:pt x="1752" y="1508"/>
                    <a:pt x="1803" y="1508"/>
                  </a:cubicBezTo>
                  <a:cubicBezTo>
                    <a:pt x="1842" y="1508"/>
                    <a:pt x="1880" y="1519"/>
                    <a:pt x="1913" y="1539"/>
                  </a:cubicBezTo>
                  <a:lnTo>
                    <a:pt x="2973" y="2211"/>
                  </a:lnTo>
                  <a:lnTo>
                    <a:pt x="4526" y="762"/>
                  </a:lnTo>
                  <a:lnTo>
                    <a:pt x="4213" y="762"/>
                  </a:lnTo>
                  <a:cubicBezTo>
                    <a:pt x="4093" y="762"/>
                    <a:pt x="4004" y="673"/>
                    <a:pt x="4004" y="568"/>
                  </a:cubicBezTo>
                  <a:cubicBezTo>
                    <a:pt x="4004" y="464"/>
                    <a:pt x="4093" y="374"/>
                    <a:pt x="4213" y="374"/>
                  </a:cubicBezTo>
                  <a:close/>
                  <a:moveTo>
                    <a:pt x="225" y="1"/>
                  </a:moveTo>
                  <a:cubicBezTo>
                    <a:pt x="105" y="1"/>
                    <a:pt x="1" y="90"/>
                    <a:pt x="1" y="210"/>
                  </a:cubicBezTo>
                  <a:lnTo>
                    <a:pt x="1" y="3570"/>
                  </a:lnTo>
                  <a:cubicBezTo>
                    <a:pt x="1" y="3675"/>
                    <a:pt x="105" y="3764"/>
                    <a:pt x="225" y="3764"/>
                  </a:cubicBezTo>
                  <a:lnTo>
                    <a:pt x="5796" y="3764"/>
                  </a:lnTo>
                  <a:cubicBezTo>
                    <a:pt x="5915" y="3764"/>
                    <a:pt x="6005" y="3675"/>
                    <a:pt x="6005" y="3570"/>
                  </a:cubicBezTo>
                  <a:lnTo>
                    <a:pt x="6005" y="210"/>
                  </a:lnTo>
                  <a:cubicBezTo>
                    <a:pt x="6005" y="90"/>
                    <a:pt x="5915" y="1"/>
                    <a:pt x="5796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4275845" y="1876176"/>
              <a:ext cx="205214" cy="69796"/>
            </a:xfrm>
            <a:custGeom>
              <a:rect b="b" l="l" r="r" t="t"/>
              <a:pathLst>
                <a:path extrusionOk="0" h="1555" w="4572">
                  <a:moveTo>
                    <a:pt x="703" y="1"/>
                  </a:moveTo>
                  <a:lnTo>
                    <a:pt x="61" y="1211"/>
                  </a:lnTo>
                  <a:cubicBezTo>
                    <a:pt x="1" y="1330"/>
                    <a:pt x="46" y="1465"/>
                    <a:pt x="180" y="1524"/>
                  </a:cubicBezTo>
                  <a:cubicBezTo>
                    <a:pt x="210" y="1539"/>
                    <a:pt x="255" y="1554"/>
                    <a:pt x="285" y="1554"/>
                  </a:cubicBezTo>
                  <a:cubicBezTo>
                    <a:pt x="374" y="1554"/>
                    <a:pt x="464" y="1509"/>
                    <a:pt x="509" y="1420"/>
                  </a:cubicBezTo>
                  <a:lnTo>
                    <a:pt x="837" y="792"/>
                  </a:lnTo>
                  <a:lnTo>
                    <a:pt x="3735" y="792"/>
                  </a:lnTo>
                  <a:lnTo>
                    <a:pt x="4063" y="1420"/>
                  </a:lnTo>
                  <a:cubicBezTo>
                    <a:pt x="4108" y="1509"/>
                    <a:pt x="4198" y="1554"/>
                    <a:pt x="4287" y="1554"/>
                  </a:cubicBezTo>
                  <a:cubicBezTo>
                    <a:pt x="4332" y="1554"/>
                    <a:pt x="4362" y="1539"/>
                    <a:pt x="4407" y="1524"/>
                  </a:cubicBezTo>
                  <a:cubicBezTo>
                    <a:pt x="4526" y="1465"/>
                    <a:pt x="4571" y="1330"/>
                    <a:pt x="4511" y="1211"/>
                  </a:cubicBezTo>
                  <a:lnTo>
                    <a:pt x="3869" y="1"/>
                  </a:lnTo>
                  <a:lnTo>
                    <a:pt x="3302" y="1"/>
                  </a:lnTo>
                  <a:lnTo>
                    <a:pt x="3481" y="329"/>
                  </a:lnTo>
                  <a:lnTo>
                    <a:pt x="1091" y="329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4213502" y="1620116"/>
              <a:ext cx="329905" cy="55029"/>
            </a:xfrm>
            <a:custGeom>
              <a:rect b="b" l="l" r="r" t="t"/>
              <a:pathLst>
                <a:path extrusionOk="0" h="1226" w="7350">
                  <a:moveTo>
                    <a:pt x="3675" y="0"/>
                  </a:moveTo>
                  <a:cubicBezTo>
                    <a:pt x="3541" y="0"/>
                    <a:pt x="3421" y="105"/>
                    <a:pt x="3421" y="239"/>
                  </a:cubicBezTo>
                  <a:lnTo>
                    <a:pt x="3421" y="747"/>
                  </a:lnTo>
                  <a:lnTo>
                    <a:pt x="255" y="747"/>
                  </a:lnTo>
                  <a:cubicBezTo>
                    <a:pt x="120" y="747"/>
                    <a:pt x="1" y="852"/>
                    <a:pt x="1" y="986"/>
                  </a:cubicBezTo>
                  <a:cubicBezTo>
                    <a:pt x="1" y="1120"/>
                    <a:pt x="120" y="1225"/>
                    <a:pt x="255" y="1225"/>
                  </a:cubicBezTo>
                  <a:lnTo>
                    <a:pt x="7095" y="1225"/>
                  </a:lnTo>
                  <a:cubicBezTo>
                    <a:pt x="7230" y="1225"/>
                    <a:pt x="7349" y="1120"/>
                    <a:pt x="7349" y="986"/>
                  </a:cubicBezTo>
                  <a:cubicBezTo>
                    <a:pt x="7349" y="852"/>
                    <a:pt x="7230" y="747"/>
                    <a:pt x="7095" y="747"/>
                  </a:cubicBezTo>
                  <a:lnTo>
                    <a:pt x="3929" y="747"/>
                  </a:lnTo>
                  <a:lnTo>
                    <a:pt x="3929" y="239"/>
                  </a:lnTo>
                  <a:cubicBezTo>
                    <a:pt x="3929" y="105"/>
                    <a:pt x="3809" y="0"/>
                    <a:pt x="3675" y="0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20"/>
          <p:cNvSpPr txBox="1"/>
          <p:nvPr/>
        </p:nvSpPr>
        <p:spPr>
          <a:xfrm>
            <a:off x="4765525" y="207710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TÉCNICA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/>
        </p:nvSpPr>
        <p:spPr>
          <a:xfrm>
            <a:off x="694825" y="138750"/>
            <a:ext cx="4779900" cy="4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1" lang="pt-BR" sz="24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“Grande parte dos projetos de software falham por conta de uma elicitação de requisitos inadequada. Entre as principais causas, destacam-se a dificuldade de entendimento mútuo entre cliente e desenvolvedor, a constante mudança de requisitos, solicitações desnecessárias, falta de envolvimento das partes interessadas e interpretações equivocadas de necessidades."</a:t>
            </a:r>
            <a:endParaRPr i="1" sz="24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i="1" sz="24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(DAVEY E PARKER, 2015)</a:t>
            </a:r>
            <a:endParaRPr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4" name="Google Shape;164;p21"/>
          <p:cNvSpPr/>
          <p:nvPr/>
        </p:nvSpPr>
        <p:spPr>
          <a:xfrm rot="-5400000">
            <a:off x="5850025" y="-556600"/>
            <a:ext cx="2100300" cy="20697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 rot="5400000">
            <a:off x="706860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/>
        </p:nvSpPr>
        <p:spPr>
          <a:xfrm>
            <a:off x="694825" y="268925"/>
            <a:ext cx="48606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1" lang="pt-BR" sz="2600">
                <a:solidFill>
                  <a:srgbClr val="FEF7EE"/>
                </a:solidFill>
                <a:latin typeface="Barlow"/>
                <a:ea typeface="Barlow"/>
                <a:cs typeface="Barlow"/>
                <a:sym typeface="Barlow"/>
              </a:rPr>
              <a:t>PERGUNTA CENTRAL</a:t>
            </a:r>
            <a:endParaRPr i="1" sz="2600">
              <a:solidFill>
                <a:srgbClr val="FEF7E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i="1" sz="2600">
              <a:solidFill>
                <a:srgbClr val="FEF7EE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1" lang="pt-BR" sz="2300">
                <a:solidFill>
                  <a:srgbClr val="FEF7EE"/>
                </a:solidFill>
                <a:latin typeface="Barlow"/>
                <a:ea typeface="Barlow"/>
                <a:cs typeface="Barlow"/>
                <a:sym typeface="Barlow"/>
              </a:rPr>
              <a:t>“A utilização de uma plataforma colaborativa com suporte de Inteligência Artificial (strateegia) pode aprimorar a elicitação de requisitos de software, tornando o processo mais eficiente, colaborativo, alinhado às boas práticas da área e produzindo um documento de requisitos de maior qualidade?”</a:t>
            </a:r>
            <a:endParaRPr i="1" sz="2300">
              <a:solidFill>
                <a:srgbClr val="FEF7E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1" name="Google Shape;171;p22"/>
          <p:cNvSpPr/>
          <p:nvPr/>
        </p:nvSpPr>
        <p:spPr>
          <a:xfrm rot="-5400000">
            <a:off x="5850025" y="-556600"/>
            <a:ext cx="2100300" cy="20697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 rot="5400000">
            <a:off x="706860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1515225" y="1669425"/>
            <a:ext cx="2826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Quais são as principais dificuldades 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enfrentadas durante a elicitação de requisitos em contextos colaborativos?</a:t>
            </a:r>
            <a:endParaRPr i="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23"/>
          <p:cNvGrpSpPr/>
          <p:nvPr/>
        </p:nvGrpSpPr>
        <p:grpSpPr>
          <a:xfrm>
            <a:off x="834804" y="3119397"/>
            <a:ext cx="487782" cy="631985"/>
            <a:chOff x="1824779" y="2909234"/>
            <a:chExt cx="487782" cy="631985"/>
          </a:xfrm>
        </p:grpSpPr>
        <p:sp>
          <p:nvSpPr>
            <p:cNvPr id="180" name="Google Shape;180;p23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2" name="Google Shape;182;p23"/>
          <p:cNvGrpSpPr/>
          <p:nvPr/>
        </p:nvGrpSpPr>
        <p:grpSpPr>
          <a:xfrm>
            <a:off x="4881485" y="3119389"/>
            <a:ext cx="487782" cy="631985"/>
            <a:chOff x="6810747" y="2909239"/>
            <a:chExt cx="487782" cy="631985"/>
          </a:xfrm>
        </p:grpSpPr>
        <p:sp>
          <p:nvSpPr>
            <p:cNvPr id="183" name="Google Shape;183;p23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85" name="Google Shape;185;p23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1515225" y="3259850"/>
            <a:ext cx="2826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Quais são os momentos-chave desse processo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 como podem ser estruturados e representados em uma plataforma colaborativa digital?</a:t>
            </a:r>
            <a:endParaRPr b="0" i="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563350" y="1669425"/>
            <a:ext cx="2826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Em que medida a transformação automatizada do conhecimento 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produzido coletivamente em um documento formal de requisitos é eficaz?</a:t>
            </a:r>
            <a:endParaRPr b="0" i="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563350" y="3259850"/>
            <a:ext cx="2826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integração entre colaboração e Inteligência Artificial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gera resultados mais consistentes e eficientes do que abordagens sem apoio de IA?</a:t>
            </a:r>
            <a:endParaRPr b="0" i="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754600" y="1004625"/>
            <a:ext cx="6018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PERGUNTAS COMPLEMENTARES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484675" y="1616313"/>
            <a:ext cx="8009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Investigar o uso de Plataformas Colaborativas apoiadas por Inteligência Artificial (Large Language Models) como instrumento de suporte à elicitação de requisitos de software.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84675" y="716338"/>
            <a:ext cx="3801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 GERAL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24"/>
          <p:cNvGrpSpPr/>
          <p:nvPr/>
        </p:nvGrpSpPr>
        <p:grpSpPr>
          <a:xfrm>
            <a:off x="1668934" y="3874550"/>
            <a:ext cx="664794" cy="664794"/>
            <a:chOff x="583100" y="3982600"/>
            <a:chExt cx="296175" cy="296175"/>
          </a:xfrm>
        </p:grpSpPr>
        <p:sp>
          <p:nvSpPr>
            <p:cNvPr id="203" name="Google Shape;203;p24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3625" lIns="173625" spcFirstLastPara="1" rIns="173625" wrap="square" tIns="173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59"/>
                <a:buFont typeface="Arial"/>
                <a:buNone/>
              </a:pPr>
              <a:r>
                <a:t/>
              </a:r>
              <a:endParaRPr b="0" i="0" sz="2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24"/>
          <p:cNvSpPr/>
          <p:nvPr/>
        </p:nvSpPr>
        <p:spPr>
          <a:xfrm>
            <a:off x="4239603" y="3874556"/>
            <a:ext cx="664795" cy="664799"/>
          </a:xfrm>
          <a:custGeom>
            <a:rect b="b" l="l" r="r" t="t"/>
            <a:pathLst>
              <a:path extrusionOk="0" h="7065" w="6439">
                <a:moveTo>
                  <a:pt x="1853" y="508"/>
                </a:moveTo>
                <a:cubicBezTo>
                  <a:pt x="2122" y="508"/>
                  <a:pt x="2331" y="657"/>
                  <a:pt x="2331" y="971"/>
                </a:cubicBezTo>
                <a:cubicBezTo>
                  <a:pt x="2331" y="1270"/>
                  <a:pt x="2122" y="1613"/>
                  <a:pt x="1853" y="1613"/>
                </a:cubicBezTo>
                <a:cubicBezTo>
                  <a:pt x="1584" y="1613"/>
                  <a:pt x="1360" y="1270"/>
                  <a:pt x="1360" y="971"/>
                </a:cubicBezTo>
                <a:cubicBezTo>
                  <a:pt x="1360" y="657"/>
                  <a:pt x="1584" y="508"/>
                  <a:pt x="1853" y="508"/>
                </a:cubicBezTo>
                <a:close/>
                <a:moveTo>
                  <a:pt x="927" y="0"/>
                </a:moveTo>
                <a:cubicBezTo>
                  <a:pt x="539" y="0"/>
                  <a:pt x="240" y="314"/>
                  <a:pt x="240" y="687"/>
                </a:cubicBezTo>
                <a:lnTo>
                  <a:pt x="240" y="3391"/>
                </a:lnTo>
                <a:cubicBezTo>
                  <a:pt x="240" y="3779"/>
                  <a:pt x="539" y="4078"/>
                  <a:pt x="927" y="4078"/>
                </a:cubicBezTo>
                <a:lnTo>
                  <a:pt x="1330" y="4078"/>
                </a:lnTo>
                <a:lnTo>
                  <a:pt x="1330" y="3555"/>
                </a:lnTo>
                <a:lnTo>
                  <a:pt x="1255" y="3555"/>
                </a:lnTo>
                <a:cubicBezTo>
                  <a:pt x="1136" y="3555"/>
                  <a:pt x="1046" y="3465"/>
                  <a:pt x="1046" y="3346"/>
                </a:cubicBezTo>
                <a:lnTo>
                  <a:pt x="1046" y="1957"/>
                </a:lnTo>
                <a:cubicBezTo>
                  <a:pt x="1046" y="1852"/>
                  <a:pt x="1136" y="1748"/>
                  <a:pt x="1255" y="1748"/>
                </a:cubicBezTo>
                <a:lnTo>
                  <a:pt x="1718" y="1748"/>
                </a:lnTo>
                <a:lnTo>
                  <a:pt x="1793" y="1852"/>
                </a:lnTo>
                <a:lnTo>
                  <a:pt x="1644" y="2689"/>
                </a:lnTo>
                <a:lnTo>
                  <a:pt x="1853" y="2883"/>
                </a:lnTo>
                <a:lnTo>
                  <a:pt x="2047" y="2689"/>
                </a:lnTo>
                <a:lnTo>
                  <a:pt x="1898" y="1852"/>
                </a:lnTo>
                <a:lnTo>
                  <a:pt x="1987" y="1748"/>
                </a:lnTo>
                <a:lnTo>
                  <a:pt x="2435" y="1748"/>
                </a:lnTo>
                <a:cubicBezTo>
                  <a:pt x="2510" y="1748"/>
                  <a:pt x="2570" y="1777"/>
                  <a:pt x="2615" y="1837"/>
                </a:cubicBezTo>
                <a:lnTo>
                  <a:pt x="2988" y="2360"/>
                </a:lnTo>
                <a:lnTo>
                  <a:pt x="3302" y="2166"/>
                </a:lnTo>
                <a:cubicBezTo>
                  <a:pt x="3334" y="2147"/>
                  <a:pt x="3370" y="2139"/>
                  <a:pt x="3406" y="2139"/>
                </a:cubicBezTo>
                <a:cubicBezTo>
                  <a:pt x="3483" y="2139"/>
                  <a:pt x="3559" y="2179"/>
                  <a:pt x="3600" y="2240"/>
                </a:cubicBezTo>
                <a:cubicBezTo>
                  <a:pt x="3660" y="2345"/>
                  <a:pt x="3615" y="2479"/>
                  <a:pt x="3526" y="2539"/>
                </a:cubicBezTo>
                <a:lnTo>
                  <a:pt x="3048" y="2823"/>
                </a:lnTo>
                <a:cubicBezTo>
                  <a:pt x="3016" y="2844"/>
                  <a:pt x="2981" y="2854"/>
                  <a:pt x="2945" y="2854"/>
                </a:cubicBezTo>
                <a:cubicBezTo>
                  <a:pt x="2879" y="2854"/>
                  <a:pt x="2812" y="2821"/>
                  <a:pt x="2764" y="2763"/>
                </a:cubicBezTo>
                <a:lnTo>
                  <a:pt x="2376" y="2226"/>
                </a:lnTo>
                <a:lnTo>
                  <a:pt x="2376" y="4078"/>
                </a:lnTo>
                <a:lnTo>
                  <a:pt x="5512" y="4078"/>
                </a:lnTo>
                <a:cubicBezTo>
                  <a:pt x="5886" y="4078"/>
                  <a:pt x="6199" y="3779"/>
                  <a:pt x="6199" y="3391"/>
                </a:cubicBezTo>
                <a:lnTo>
                  <a:pt x="6199" y="687"/>
                </a:lnTo>
                <a:cubicBezTo>
                  <a:pt x="6199" y="314"/>
                  <a:pt x="5900" y="0"/>
                  <a:pt x="5512" y="0"/>
                </a:cubicBezTo>
                <a:close/>
                <a:moveTo>
                  <a:pt x="1016" y="4496"/>
                </a:moveTo>
                <a:cubicBezTo>
                  <a:pt x="688" y="4496"/>
                  <a:pt x="404" y="4705"/>
                  <a:pt x="404" y="5093"/>
                </a:cubicBezTo>
                <a:cubicBezTo>
                  <a:pt x="404" y="5467"/>
                  <a:pt x="688" y="5900"/>
                  <a:pt x="1016" y="5900"/>
                </a:cubicBezTo>
                <a:cubicBezTo>
                  <a:pt x="1360" y="5900"/>
                  <a:pt x="1629" y="5467"/>
                  <a:pt x="1629" y="5093"/>
                </a:cubicBezTo>
                <a:cubicBezTo>
                  <a:pt x="1629" y="4705"/>
                  <a:pt x="1360" y="4496"/>
                  <a:pt x="1016" y="4496"/>
                </a:cubicBezTo>
                <a:close/>
                <a:moveTo>
                  <a:pt x="3212" y="4496"/>
                </a:moveTo>
                <a:cubicBezTo>
                  <a:pt x="2883" y="4496"/>
                  <a:pt x="2600" y="4705"/>
                  <a:pt x="2600" y="5093"/>
                </a:cubicBezTo>
                <a:cubicBezTo>
                  <a:pt x="2600" y="5467"/>
                  <a:pt x="2883" y="5900"/>
                  <a:pt x="3212" y="5900"/>
                </a:cubicBezTo>
                <a:cubicBezTo>
                  <a:pt x="3556" y="5900"/>
                  <a:pt x="3824" y="5467"/>
                  <a:pt x="3824" y="5093"/>
                </a:cubicBezTo>
                <a:cubicBezTo>
                  <a:pt x="3824" y="4705"/>
                  <a:pt x="3556" y="4496"/>
                  <a:pt x="3212" y="4496"/>
                </a:cubicBezTo>
                <a:close/>
                <a:moveTo>
                  <a:pt x="5408" y="4496"/>
                </a:moveTo>
                <a:cubicBezTo>
                  <a:pt x="5079" y="4496"/>
                  <a:pt x="4795" y="4705"/>
                  <a:pt x="4795" y="5093"/>
                </a:cubicBezTo>
                <a:cubicBezTo>
                  <a:pt x="4795" y="5467"/>
                  <a:pt x="5079" y="5900"/>
                  <a:pt x="5408" y="5900"/>
                </a:cubicBezTo>
                <a:cubicBezTo>
                  <a:pt x="5751" y="5900"/>
                  <a:pt x="6020" y="5467"/>
                  <a:pt x="6020" y="5093"/>
                </a:cubicBezTo>
                <a:cubicBezTo>
                  <a:pt x="6020" y="4705"/>
                  <a:pt x="5751" y="4496"/>
                  <a:pt x="5408" y="4496"/>
                </a:cubicBezTo>
                <a:close/>
                <a:moveTo>
                  <a:pt x="270" y="6079"/>
                </a:moveTo>
                <a:cubicBezTo>
                  <a:pt x="120" y="6079"/>
                  <a:pt x="1" y="6198"/>
                  <a:pt x="1" y="6348"/>
                </a:cubicBezTo>
                <a:lnTo>
                  <a:pt x="1" y="7065"/>
                </a:lnTo>
                <a:lnTo>
                  <a:pt x="2032" y="7065"/>
                </a:lnTo>
                <a:lnTo>
                  <a:pt x="2047" y="6348"/>
                </a:lnTo>
                <a:cubicBezTo>
                  <a:pt x="2047" y="6273"/>
                  <a:pt x="2017" y="6213"/>
                  <a:pt x="1957" y="6154"/>
                </a:cubicBezTo>
                <a:cubicBezTo>
                  <a:pt x="1913" y="6109"/>
                  <a:pt x="1838" y="6079"/>
                  <a:pt x="1778" y="6079"/>
                </a:cubicBezTo>
                <a:close/>
                <a:moveTo>
                  <a:pt x="2465" y="6079"/>
                </a:moveTo>
                <a:cubicBezTo>
                  <a:pt x="2316" y="6079"/>
                  <a:pt x="2196" y="6198"/>
                  <a:pt x="2196" y="6348"/>
                </a:cubicBezTo>
                <a:lnTo>
                  <a:pt x="2196" y="7065"/>
                </a:lnTo>
                <a:lnTo>
                  <a:pt x="4228" y="7065"/>
                </a:lnTo>
                <a:lnTo>
                  <a:pt x="4243" y="6348"/>
                </a:lnTo>
                <a:cubicBezTo>
                  <a:pt x="4243" y="6273"/>
                  <a:pt x="4213" y="6213"/>
                  <a:pt x="4153" y="6154"/>
                </a:cubicBezTo>
                <a:cubicBezTo>
                  <a:pt x="4108" y="6109"/>
                  <a:pt x="4034" y="6079"/>
                  <a:pt x="3974" y="6079"/>
                </a:cubicBezTo>
                <a:close/>
                <a:moveTo>
                  <a:pt x="4661" y="6079"/>
                </a:moveTo>
                <a:cubicBezTo>
                  <a:pt x="4511" y="6079"/>
                  <a:pt x="4392" y="6198"/>
                  <a:pt x="4392" y="6348"/>
                </a:cubicBezTo>
                <a:lnTo>
                  <a:pt x="4392" y="7065"/>
                </a:lnTo>
                <a:lnTo>
                  <a:pt x="6423" y="7065"/>
                </a:lnTo>
                <a:lnTo>
                  <a:pt x="6423" y="6348"/>
                </a:lnTo>
                <a:cubicBezTo>
                  <a:pt x="6438" y="6273"/>
                  <a:pt x="6408" y="6213"/>
                  <a:pt x="6349" y="6154"/>
                </a:cubicBezTo>
                <a:cubicBezTo>
                  <a:pt x="6304" y="6109"/>
                  <a:pt x="6229" y="6079"/>
                  <a:pt x="6154" y="6079"/>
                </a:cubicBezTo>
                <a:close/>
              </a:path>
            </a:pathLst>
          </a:custGeom>
          <a:solidFill>
            <a:srgbClr val="FF600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24"/>
          <p:cNvGrpSpPr/>
          <p:nvPr/>
        </p:nvGrpSpPr>
        <p:grpSpPr>
          <a:xfrm>
            <a:off x="7013567" y="3874618"/>
            <a:ext cx="664791" cy="681072"/>
            <a:chOff x="4213502" y="1620116"/>
            <a:chExt cx="329905" cy="325856"/>
          </a:xfrm>
        </p:grpSpPr>
        <p:sp>
          <p:nvSpPr>
            <p:cNvPr id="212" name="Google Shape;212;p24"/>
            <p:cNvSpPr/>
            <p:nvPr/>
          </p:nvSpPr>
          <p:spPr>
            <a:xfrm>
              <a:off x="4243663" y="1689820"/>
              <a:ext cx="269579" cy="168992"/>
            </a:xfrm>
            <a:custGeom>
              <a:rect b="b" l="l" r="r" t="t"/>
              <a:pathLst>
                <a:path extrusionOk="0" h="3765" w="6006">
                  <a:moveTo>
                    <a:pt x="5004" y="374"/>
                  </a:moveTo>
                  <a:cubicBezTo>
                    <a:pt x="5124" y="374"/>
                    <a:pt x="5214" y="464"/>
                    <a:pt x="5214" y="568"/>
                  </a:cubicBezTo>
                  <a:lnTo>
                    <a:pt x="5214" y="1315"/>
                  </a:lnTo>
                  <a:cubicBezTo>
                    <a:pt x="5214" y="1420"/>
                    <a:pt x="5124" y="1509"/>
                    <a:pt x="5004" y="1509"/>
                  </a:cubicBezTo>
                  <a:cubicBezTo>
                    <a:pt x="4900" y="1509"/>
                    <a:pt x="4810" y="1420"/>
                    <a:pt x="4810" y="1315"/>
                  </a:cubicBezTo>
                  <a:lnTo>
                    <a:pt x="4810" y="1031"/>
                  </a:lnTo>
                  <a:lnTo>
                    <a:pt x="3152" y="2585"/>
                  </a:lnTo>
                  <a:cubicBezTo>
                    <a:pt x="3107" y="2621"/>
                    <a:pt x="3051" y="2640"/>
                    <a:pt x="2997" y="2640"/>
                  </a:cubicBezTo>
                  <a:cubicBezTo>
                    <a:pt x="2962" y="2640"/>
                    <a:pt x="2928" y="2632"/>
                    <a:pt x="2898" y="2614"/>
                  </a:cubicBezTo>
                  <a:lnTo>
                    <a:pt x="1838" y="1942"/>
                  </a:lnTo>
                  <a:lnTo>
                    <a:pt x="748" y="2958"/>
                  </a:lnTo>
                  <a:cubicBezTo>
                    <a:pt x="703" y="3003"/>
                    <a:pt x="658" y="3018"/>
                    <a:pt x="598" y="3018"/>
                  </a:cubicBezTo>
                  <a:cubicBezTo>
                    <a:pt x="554" y="3018"/>
                    <a:pt x="509" y="3003"/>
                    <a:pt x="464" y="2958"/>
                  </a:cubicBezTo>
                  <a:cubicBezTo>
                    <a:pt x="389" y="2883"/>
                    <a:pt x="389" y="2764"/>
                    <a:pt x="464" y="2689"/>
                  </a:cubicBezTo>
                  <a:lnTo>
                    <a:pt x="1659" y="1569"/>
                  </a:lnTo>
                  <a:cubicBezTo>
                    <a:pt x="1701" y="1527"/>
                    <a:pt x="1752" y="1508"/>
                    <a:pt x="1803" y="1508"/>
                  </a:cubicBezTo>
                  <a:cubicBezTo>
                    <a:pt x="1842" y="1508"/>
                    <a:pt x="1880" y="1519"/>
                    <a:pt x="1913" y="1539"/>
                  </a:cubicBezTo>
                  <a:lnTo>
                    <a:pt x="2973" y="2211"/>
                  </a:lnTo>
                  <a:lnTo>
                    <a:pt x="4526" y="762"/>
                  </a:lnTo>
                  <a:lnTo>
                    <a:pt x="4213" y="762"/>
                  </a:lnTo>
                  <a:cubicBezTo>
                    <a:pt x="4093" y="762"/>
                    <a:pt x="4004" y="673"/>
                    <a:pt x="4004" y="568"/>
                  </a:cubicBezTo>
                  <a:cubicBezTo>
                    <a:pt x="4004" y="464"/>
                    <a:pt x="4093" y="374"/>
                    <a:pt x="4213" y="374"/>
                  </a:cubicBezTo>
                  <a:close/>
                  <a:moveTo>
                    <a:pt x="225" y="1"/>
                  </a:moveTo>
                  <a:cubicBezTo>
                    <a:pt x="105" y="1"/>
                    <a:pt x="1" y="90"/>
                    <a:pt x="1" y="210"/>
                  </a:cubicBezTo>
                  <a:lnTo>
                    <a:pt x="1" y="3570"/>
                  </a:lnTo>
                  <a:cubicBezTo>
                    <a:pt x="1" y="3675"/>
                    <a:pt x="105" y="3764"/>
                    <a:pt x="225" y="3764"/>
                  </a:cubicBezTo>
                  <a:lnTo>
                    <a:pt x="5796" y="3764"/>
                  </a:lnTo>
                  <a:cubicBezTo>
                    <a:pt x="5915" y="3764"/>
                    <a:pt x="6005" y="3675"/>
                    <a:pt x="6005" y="3570"/>
                  </a:cubicBezTo>
                  <a:lnTo>
                    <a:pt x="6005" y="210"/>
                  </a:lnTo>
                  <a:cubicBezTo>
                    <a:pt x="6005" y="90"/>
                    <a:pt x="5915" y="1"/>
                    <a:pt x="5796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0"/>
                <a:buFont typeface="Arial"/>
                <a:buNone/>
              </a:pPr>
              <a:r>
                <a:t/>
              </a:r>
              <a:endParaRPr b="0" i="0" sz="23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275845" y="1876176"/>
              <a:ext cx="205214" cy="69796"/>
            </a:xfrm>
            <a:custGeom>
              <a:rect b="b" l="l" r="r" t="t"/>
              <a:pathLst>
                <a:path extrusionOk="0" h="1555" w="4572">
                  <a:moveTo>
                    <a:pt x="703" y="1"/>
                  </a:moveTo>
                  <a:lnTo>
                    <a:pt x="61" y="1211"/>
                  </a:lnTo>
                  <a:cubicBezTo>
                    <a:pt x="1" y="1330"/>
                    <a:pt x="46" y="1465"/>
                    <a:pt x="180" y="1524"/>
                  </a:cubicBezTo>
                  <a:cubicBezTo>
                    <a:pt x="210" y="1539"/>
                    <a:pt x="255" y="1554"/>
                    <a:pt x="285" y="1554"/>
                  </a:cubicBezTo>
                  <a:cubicBezTo>
                    <a:pt x="374" y="1554"/>
                    <a:pt x="464" y="1509"/>
                    <a:pt x="509" y="1420"/>
                  </a:cubicBezTo>
                  <a:lnTo>
                    <a:pt x="837" y="792"/>
                  </a:lnTo>
                  <a:lnTo>
                    <a:pt x="3735" y="792"/>
                  </a:lnTo>
                  <a:lnTo>
                    <a:pt x="4063" y="1420"/>
                  </a:lnTo>
                  <a:cubicBezTo>
                    <a:pt x="4108" y="1509"/>
                    <a:pt x="4198" y="1554"/>
                    <a:pt x="4287" y="1554"/>
                  </a:cubicBezTo>
                  <a:cubicBezTo>
                    <a:pt x="4332" y="1554"/>
                    <a:pt x="4362" y="1539"/>
                    <a:pt x="4407" y="1524"/>
                  </a:cubicBezTo>
                  <a:cubicBezTo>
                    <a:pt x="4526" y="1465"/>
                    <a:pt x="4571" y="1330"/>
                    <a:pt x="4511" y="1211"/>
                  </a:cubicBezTo>
                  <a:lnTo>
                    <a:pt x="3869" y="1"/>
                  </a:lnTo>
                  <a:lnTo>
                    <a:pt x="3302" y="1"/>
                  </a:lnTo>
                  <a:lnTo>
                    <a:pt x="3481" y="329"/>
                  </a:lnTo>
                  <a:lnTo>
                    <a:pt x="1091" y="329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0"/>
                <a:buFont typeface="Arial"/>
                <a:buNone/>
              </a:pPr>
              <a:r>
                <a:t/>
              </a:r>
              <a:endParaRPr b="0" i="0" sz="23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213502" y="1620116"/>
              <a:ext cx="329905" cy="55029"/>
            </a:xfrm>
            <a:custGeom>
              <a:rect b="b" l="l" r="r" t="t"/>
              <a:pathLst>
                <a:path extrusionOk="0" h="1226" w="7350">
                  <a:moveTo>
                    <a:pt x="3675" y="0"/>
                  </a:moveTo>
                  <a:cubicBezTo>
                    <a:pt x="3541" y="0"/>
                    <a:pt x="3421" y="105"/>
                    <a:pt x="3421" y="239"/>
                  </a:cubicBezTo>
                  <a:lnTo>
                    <a:pt x="3421" y="747"/>
                  </a:lnTo>
                  <a:lnTo>
                    <a:pt x="255" y="747"/>
                  </a:lnTo>
                  <a:cubicBezTo>
                    <a:pt x="120" y="747"/>
                    <a:pt x="1" y="852"/>
                    <a:pt x="1" y="986"/>
                  </a:cubicBezTo>
                  <a:cubicBezTo>
                    <a:pt x="1" y="1120"/>
                    <a:pt x="120" y="1225"/>
                    <a:pt x="255" y="1225"/>
                  </a:cubicBezTo>
                  <a:lnTo>
                    <a:pt x="7095" y="1225"/>
                  </a:lnTo>
                  <a:cubicBezTo>
                    <a:pt x="7230" y="1225"/>
                    <a:pt x="7349" y="1120"/>
                    <a:pt x="7349" y="986"/>
                  </a:cubicBezTo>
                  <a:cubicBezTo>
                    <a:pt x="7349" y="852"/>
                    <a:pt x="7230" y="747"/>
                    <a:pt x="7095" y="747"/>
                  </a:cubicBezTo>
                  <a:lnTo>
                    <a:pt x="3929" y="747"/>
                  </a:lnTo>
                  <a:lnTo>
                    <a:pt x="3929" y="239"/>
                  </a:lnTo>
                  <a:cubicBezTo>
                    <a:pt x="3929" y="105"/>
                    <a:pt x="3809" y="0"/>
                    <a:pt x="3675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6075" lIns="156075" spcFirstLastPara="1" rIns="156075" wrap="square" tIns="15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0"/>
                <a:buFont typeface="Arial"/>
                <a:buNone/>
              </a:pPr>
              <a:r>
                <a:t/>
              </a:r>
              <a:endParaRPr b="0" i="0" sz="23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24"/>
          <p:cNvSpPr txBox="1"/>
          <p:nvPr/>
        </p:nvSpPr>
        <p:spPr>
          <a:xfrm>
            <a:off x="567300" y="2810125"/>
            <a:ext cx="80094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pesquisa foca em validar se essa integração torna o processo: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Mais Eficiente e Colaborativo     Alinhado às Boas Práticas      Qualitativamente Superior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/>
        </p:nvSpPr>
        <p:spPr>
          <a:xfrm>
            <a:off x="484675" y="1616313"/>
            <a:ext cx="80094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Analisar o impacto da integração entre Inteligência Artificial e plataformas colaborativas na qualidade de documentos de requisitos.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Investigar em que medida o uso de IA contribui para reduzir ambiguidades, inconsistências e lacunas.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Avaliar os efeitos da abordagem colaborativa mediada por IA na eficiência do processo de elicitação de requisitos.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Comparar a eficácia de diferentes abordagens de elicitação.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Identificar fatores críticos que influenciam o sucesso ou limitações do uso de IA como mediadora cognitiva.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484675" y="716350"/>
            <a:ext cx="4694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OBJETIVOS ESPECÍFICOS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/>
        </p:nvSpPr>
        <p:spPr>
          <a:xfrm>
            <a:off x="484675" y="1501275"/>
            <a:ext cx="2610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Impacto dos requisitos na qualidade e custos do produto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484675" y="716338"/>
            <a:ext cx="3801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JUSTIFICATIVA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3239050" y="2166900"/>
            <a:ext cx="2610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Gargalo na comunicação entre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stakeholders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diversos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5903400" y="1616325"/>
            <a:ext cx="26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Potencial da IA na ER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484675" y="3537225"/>
            <a:ext cx="26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Novo paradigma de engenharia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5903400" y="3537225"/>
            <a:ext cx="26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Demanda de mercado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36" name="Google Shape;236;p26"/>
          <p:cNvGrpSpPr/>
          <p:nvPr/>
        </p:nvGrpSpPr>
        <p:grpSpPr>
          <a:xfrm>
            <a:off x="4095726" y="2764192"/>
            <a:ext cx="952542" cy="946336"/>
            <a:chOff x="580725" y="3617925"/>
            <a:chExt cx="299325" cy="297375"/>
          </a:xfrm>
        </p:grpSpPr>
        <p:sp>
          <p:nvSpPr>
            <p:cNvPr id="237" name="Google Shape;237;p26"/>
            <p:cNvSpPr/>
            <p:nvPr/>
          </p:nvSpPr>
          <p:spPr>
            <a:xfrm>
              <a:off x="6090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6150" lIns="246150" spcFirstLastPara="1" rIns="246150" wrap="square" tIns="24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9"/>
                <a:buFont typeface="Arial"/>
                <a:buNone/>
              </a:pPr>
              <a:r>
                <a:t/>
              </a:r>
              <a:endParaRPr b="0" i="0" sz="37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668950" y="3617925"/>
              <a:ext cx="122875" cy="104475"/>
            </a:xfrm>
            <a:custGeom>
              <a:rect b="b" l="l" r="r" t="t"/>
              <a:pathLst>
                <a:path extrusionOk="0" h="4179" w="4915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6150" lIns="246150" spcFirstLastPara="1" rIns="246150" wrap="square" tIns="24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9"/>
                <a:buFont typeface="Arial"/>
                <a:buNone/>
              </a:pPr>
              <a:r>
                <a:t/>
              </a:r>
              <a:endParaRPr b="0" i="0" sz="37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580725" y="3721900"/>
              <a:ext cx="141800" cy="192025"/>
            </a:xfrm>
            <a:custGeom>
              <a:rect b="b" l="l" r="r" t="t"/>
              <a:pathLst>
                <a:path extrusionOk="0" h="7681" w="5672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6150" lIns="246150" spcFirstLastPara="1" rIns="246150" wrap="square" tIns="24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9"/>
                <a:buFont typeface="Arial"/>
                <a:buNone/>
              </a:pPr>
              <a:r>
                <a:t/>
              </a:r>
              <a:endParaRPr b="0" i="0" sz="37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004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6150" lIns="246150" spcFirstLastPara="1" rIns="246150" wrap="square" tIns="24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9"/>
                <a:buFont typeface="Arial"/>
                <a:buNone/>
              </a:pPr>
              <a:r>
                <a:t/>
              </a:r>
              <a:endParaRPr b="0" i="0" sz="37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738250" y="3722700"/>
              <a:ext cx="141800" cy="192600"/>
            </a:xfrm>
            <a:custGeom>
              <a:rect b="b" l="l" r="r" t="t"/>
              <a:pathLst>
                <a:path extrusionOk="0" h="7704" w="5672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6150" lIns="246150" spcFirstLastPara="1" rIns="246150" wrap="square" tIns="24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9"/>
                <a:buFont typeface="Arial"/>
                <a:buNone/>
              </a:pPr>
              <a:r>
                <a:t/>
              </a:r>
              <a:endParaRPr b="0" i="0" sz="37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26"/>
          <p:cNvSpPr/>
          <p:nvPr/>
        </p:nvSpPr>
        <p:spPr>
          <a:xfrm>
            <a:off x="1313400" y="2098587"/>
            <a:ext cx="952550" cy="946319"/>
          </a:xfrm>
          <a:custGeom>
            <a:rect b="b" l="l" r="r" t="t"/>
            <a:pathLst>
              <a:path extrusionOk="0" h="7513" w="7066">
                <a:moveTo>
                  <a:pt x="1942" y="717"/>
                </a:moveTo>
                <a:lnTo>
                  <a:pt x="1942" y="1419"/>
                </a:lnTo>
                <a:lnTo>
                  <a:pt x="1868" y="1419"/>
                </a:lnTo>
                <a:cubicBezTo>
                  <a:pt x="1584" y="1419"/>
                  <a:pt x="1435" y="1299"/>
                  <a:pt x="1435" y="1061"/>
                </a:cubicBezTo>
                <a:cubicBezTo>
                  <a:pt x="1435" y="836"/>
                  <a:pt x="1584" y="717"/>
                  <a:pt x="1868" y="717"/>
                </a:cubicBezTo>
                <a:close/>
                <a:moveTo>
                  <a:pt x="2271" y="1852"/>
                </a:moveTo>
                <a:cubicBezTo>
                  <a:pt x="2480" y="1852"/>
                  <a:pt x="2630" y="1882"/>
                  <a:pt x="2704" y="1927"/>
                </a:cubicBezTo>
                <a:cubicBezTo>
                  <a:pt x="2764" y="1972"/>
                  <a:pt x="2809" y="2076"/>
                  <a:pt x="2809" y="2211"/>
                </a:cubicBezTo>
                <a:cubicBezTo>
                  <a:pt x="2809" y="2479"/>
                  <a:pt x="2644" y="2614"/>
                  <a:pt x="2331" y="2614"/>
                </a:cubicBezTo>
                <a:lnTo>
                  <a:pt x="2271" y="2614"/>
                </a:lnTo>
                <a:lnTo>
                  <a:pt x="2271" y="1852"/>
                </a:lnTo>
                <a:close/>
                <a:moveTo>
                  <a:pt x="1942" y="0"/>
                </a:moveTo>
                <a:lnTo>
                  <a:pt x="1942" y="284"/>
                </a:lnTo>
                <a:cubicBezTo>
                  <a:pt x="1554" y="284"/>
                  <a:pt x="1300" y="344"/>
                  <a:pt x="1151" y="448"/>
                </a:cubicBezTo>
                <a:cubicBezTo>
                  <a:pt x="1016" y="553"/>
                  <a:pt x="942" y="762"/>
                  <a:pt x="942" y="1061"/>
                </a:cubicBezTo>
                <a:cubicBezTo>
                  <a:pt x="942" y="1359"/>
                  <a:pt x="1016" y="1568"/>
                  <a:pt x="1151" y="1673"/>
                </a:cubicBezTo>
                <a:cubicBezTo>
                  <a:pt x="1300" y="1792"/>
                  <a:pt x="1554" y="1837"/>
                  <a:pt x="1942" y="1837"/>
                </a:cubicBezTo>
                <a:lnTo>
                  <a:pt x="1942" y="2614"/>
                </a:lnTo>
                <a:lnTo>
                  <a:pt x="1868" y="2614"/>
                </a:lnTo>
                <a:cubicBezTo>
                  <a:pt x="1674" y="2614"/>
                  <a:pt x="1539" y="2584"/>
                  <a:pt x="1494" y="2539"/>
                </a:cubicBezTo>
                <a:cubicBezTo>
                  <a:pt x="1435" y="2494"/>
                  <a:pt x="1405" y="2375"/>
                  <a:pt x="1405" y="2196"/>
                </a:cubicBezTo>
                <a:lnTo>
                  <a:pt x="1405" y="2151"/>
                </a:lnTo>
                <a:lnTo>
                  <a:pt x="912" y="2151"/>
                </a:lnTo>
                <a:lnTo>
                  <a:pt x="912" y="2240"/>
                </a:lnTo>
                <a:cubicBezTo>
                  <a:pt x="912" y="2539"/>
                  <a:pt x="987" y="2733"/>
                  <a:pt x="1121" y="2853"/>
                </a:cubicBezTo>
                <a:cubicBezTo>
                  <a:pt x="1270" y="2972"/>
                  <a:pt x="1509" y="3032"/>
                  <a:pt x="1853" y="3032"/>
                </a:cubicBezTo>
                <a:lnTo>
                  <a:pt x="1942" y="3032"/>
                </a:lnTo>
                <a:lnTo>
                  <a:pt x="1942" y="3361"/>
                </a:lnTo>
                <a:lnTo>
                  <a:pt x="2271" y="3361"/>
                </a:lnTo>
                <a:lnTo>
                  <a:pt x="2271" y="3032"/>
                </a:lnTo>
                <a:lnTo>
                  <a:pt x="2361" y="3032"/>
                </a:lnTo>
                <a:cubicBezTo>
                  <a:pt x="2704" y="3032"/>
                  <a:pt x="2958" y="2972"/>
                  <a:pt x="3093" y="2853"/>
                </a:cubicBezTo>
                <a:cubicBezTo>
                  <a:pt x="3227" y="2733"/>
                  <a:pt x="3302" y="2509"/>
                  <a:pt x="3302" y="2211"/>
                </a:cubicBezTo>
                <a:cubicBezTo>
                  <a:pt x="3302" y="1927"/>
                  <a:pt x="3227" y="1733"/>
                  <a:pt x="3107" y="1628"/>
                </a:cubicBezTo>
                <a:cubicBezTo>
                  <a:pt x="2973" y="1524"/>
                  <a:pt x="2734" y="1464"/>
                  <a:pt x="2376" y="1434"/>
                </a:cubicBezTo>
                <a:lnTo>
                  <a:pt x="2271" y="1434"/>
                </a:lnTo>
                <a:lnTo>
                  <a:pt x="2271" y="717"/>
                </a:lnTo>
                <a:lnTo>
                  <a:pt x="2346" y="717"/>
                </a:lnTo>
                <a:cubicBezTo>
                  <a:pt x="2615" y="717"/>
                  <a:pt x="2749" y="822"/>
                  <a:pt x="2749" y="1031"/>
                </a:cubicBezTo>
                <a:lnTo>
                  <a:pt x="2749" y="1090"/>
                </a:lnTo>
                <a:lnTo>
                  <a:pt x="3212" y="1090"/>
                </a:lnTo>
                <a:lnTo>
                  <a:pt x="3212" y="1016"/>
                </a:lnTo>
                <a:cubicBezTo>
                  <a:pt x="3212" y="732"/>
                  <a:pt x="3152" y="553"/>
                  <a:pt x="3018" y="448"/>
                </a:cubicBezTo>
                <a:cubicBezTo>
                  <a:pt x="2883" y="344"/>
                  <a:pt x="2630" y="284"/>
                  <a:pt x="2271" y="284"/>
                </a:cubicBezTo>
                <a:lnTo>
                  <a:pt x="2271" y="0"/>
                </a:lnTo>
                <a:close/>
                <a:moveTo>
                  <a:pt x="3780" y="2674"/>
                </a:moveTo>
                <a:cubicBezTo>
                  <a:pt x="3630" y="2674"/>
                  <a:pt x="3511" y="2808"/>
                  <a:pt x="3511" y="2957"/>
                </a:cubicBezTo>
                <a:lnTo>
                  <a:pt x="3511" y="4391"/>
                </a:lnTo>
                <a:lnTo>
                  <a:pt x="2719" y="5168"/>
                </a:lnTo>
                <a:cubicBezTo>
                  <a:pt x="2615" y="5272"/>
                  <a:pt x="2615" y="5452"/>
                  <a:pt x="2719" y="5556"/>
                </a:cubicBezTo>
                <a:cubicBezTo>
                  <a:pt x="2779" y="5616"/>
                  <a:pt x="2854" y="5631"/>
                  <a:pt x="2913" y="5631"/>
                </a:cubicBezTo>
                <a:cubicBezTo>
                  <a:pt x="2988" y="5631"/>
                  <a:pt x="3063" y="5616"/>
                  <a:pt x="3107" y="5556"/>
                </a:cubicBezTo>
                <a:lnTo>
                  <a:pt x="3974" y="4690"/>
                </a:lnTo>
                <a:cubicBezTo>
                  <a:pt x="4034" y="4645"/>
                  <a:pt x="4048" y="4570"/>
                  <a:pt x="4048" y="4496"/>
                </a:cubicBezTo>
                <a:lnTo>
                  <a:pt x="4048" y="2957"/>
                </a:lnTo>
                <a:cubicBezTo>
                  <a:pt x="4048" y="2808"/>
                  <a:pt x="3929" y="2674"/>
                  <a:pt x="3780" y="2674"/>
                </a:cubicBezTo>
                <a:close/>
                <a:moveTo>
                  <a:pt x="3780" y="941"/>
                </a:moveTo>
                <a:cubicBezTo>
                  <a:pt x="3630" y="941"/>
                  <a:pt x="3511" y="1061"/>
                  <a:pt x="3511" y="1210"/>
                </a:cubicBezTo>
                <a:cubicBezTo>
                  <a:pt x="3511" y="1359"/>
                  <a:pt x="3630" y="1479"/>
                  <a:pt x="3780" y="1479"/>
                </a:cubicBezTo>
                <a:cubicBezTo>
                  <a:pt x="5288" y="1479"/>
                  <a:pt x="6528" y="2718"/>
                  <a:pt x="6528" y="4227"/>
                </a:cubicBezTo>
                <a:cubicBezTo>
                  <a:pt x="6528" y="5735"/>
                  <a:pt x="5288" y="6960"/>
                  <a:pt x="3780" y="6960"/>
                </a:cubicBezTo>
                <a:cubicBezTo>
                  <a:pt x="2271" y="6960"/>
                  <a:pt x="1046" y="5735"/>
                  <a:pt x="1046" y="4242"/>
                </a:cubicBezTo>
                <a:lnTo>
                  <a:pt x="1465" y="4242"/>
                </a:lnTo>
                <a:lnTo>
                  <a:pt x="733" y="3137"/>
                </a:lnTo>
                <a:lnTo>
                  <a:pt x="1" y="4242"/>
                </a:lnTo>
                <a:lnTo>
                  <a:pt x="494" y="4242"/>
                </a:lnTo>
                <a:cubicBezTo>
                  <a:pt x="509" y="6049"/>
                  <a:pt x="1972" y="7513"/>
                  <a:pt x="3780" y="7513"/>
                </a:cubicBezTo>
                <a:cubicBezTo>
                  <a:pt x="5587" y="7513"/>
                  <a:pt x="7065" y="6034"/>
                  <a:pt x="7065" y="4227"/>
                </a:cubicBezTo>
                <a:cubicBezTo>
                  <a:pt x="7065" y="2405"/>
                  <a:pt x="5587" y="941"/>
                  <a:pt x="3780" y="941"/>
                </a:cubicBezTo>
                <a:close/>
              </a:path>
            </a:pathLst>
          </a:custGeom>
          <a:solidFill>
            <a:srgbClr val="FB6B00"/>
          </a:solidFill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26"/>
          <p:cNvGrpSpPr/>
          <p:nvPr/>
        </p:nvGrpSpPr>
        <p:grpSpPr>
          <a:xfrm>
            <a:off x="1313388" y="3922132"/>
            <a:ext cx="952556" cy="949960"/>
            <a:chOff x="1310075" y="3253275"/>
            <a:chExt cx="296950" cy="296150"/>
          </a:xfrm>
        </p:grpSpPr>
        <p:sp>
          <p:nvSpPr>
            <p:cNvPr id="244" name="Google Shape;244;p26"/>
            <p:cNvSpPr/>
            <p:nvPr/>
          </p:nvSpPr>
          <p:spPr>
            <a:xfrm>
              <a:off x="1423475" y="33596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125" lIns="248125" spcFirstLastPara="1" rIns="248125" wrap="square" tIns="24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99"/>
                <a:buFont typeface="Arial"/>
                <a:buNone/>
              </a:pPr>
              <a:r>
                <a:t/>
              </a:r>
              <a:endParaRPr b="0" i="0" sz="3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1310075" y="3253275"/>
              <a:ext cx="296950" cy="296150"/>
            </a:xfrm>
            <a:custGeom>
              <a:rect b="b" l="l" r="r" t="t"/>
              <a:pathLst>
                <a:path extrusionOk="0" h="11846" w="11878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125" lIns="248125" spcFirstLastPara="1" rIns="248125" wrap="square" tIns="24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99"/>
                <a:buFont typeface="Arial"/>
                <a:buNone/>
              </a:pPr>
              <a:r>
                <a:t/>
              </a:r>
              <a:endParaRPr b="0" i="0" sz="3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1399850" y="3426550"/>
              <a:ext cx="116600" cy="52800"/>
            </a:xfrm>
            <a:custGeom>
              <a:rect b="b" l="l" r="r" t="t"/>
              <a:pathLst>
                <a:path extrusionOk="0" h="2112" w="4664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125" lIns="248125" spcFirstLastPara="1" rIns="248125" wrap="square" tIns="248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99"/>
                <a:buFont typeface="Arial"/>
                <a:buNone/>
              </a:pPr>
              <a:r>
                <a:t/>
              </a:r>
              <a:endParaRPr b="0" i="0" sz="3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26"/>
          <p:cNvSpPr/>
          <p:nvPr/>
        </p:nvSpPr>
        <p:spPr>
          <a:xfrm>
            <a:off x="6732131" y="3923959"/>
            <a:ext cx="952535" cy="946318"/>
          </a:xfrm>
          <a:custGeom>
            <a:rect b="b" l="l" r="r" t="t"/>
            <a:pathLst>
              <a:path extrusionOk="0" h="12698" w="12665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FF600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26"/>
          <p:cNvGrpSpPr/>
          <p:nvPr/>
        </p:nvGrpSpPr>
        <p:grpSpPr>
          <a:xfrm>
            <a:off x="6822141" y="2001229"/>
            <a:ext cx="772504" cy="946335"/>
            <a:chOff x="-45277900" y="3938500"/>
            <a:chExt cx="244975" cy="300100"/>
          </a:xfrm>
        </p:grpSpPr>
        <p:sp>
          <p:nvSpPr>
            <p:cNvPr id="249" name="Google Shape;249;p26"/>
            <p:cNvSpPr/>
            <p:nvPr/>
          </p:nvSpPr>
          <p:spPr>
            <a:xfrm>
              <a:off x="-45210950" y="4107825"/>
              <a:ext cx="23650" cy="24450"/>
            </a:xfrm>
            <a:custGeom>
              <a:rect b="b" l="l" r="r" t="t"/>
              <a:pathLst>
                <a:path extrusionOk="0" h="978" w="946">
                  <a:moveTo>
                    <a:pt x="473" y="1"/>
                  </a:moveTo>
                  <a:lnTo>
                    <a:pt x="1" y="978"/>
                  </a:lnTo>
                  <a:lnTo>
                    <a:pt x="946" y="978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550" lIns="243550" spcFirstLastPara="1" rIns="243550" wrap="square" tIns="2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9"/>
                <a:buFont typeface="Arial"/>
                <a:buNone/>
              </a:pPr>
              <a:r>
                <a:t/>
              </a:r>
              <a:endParaRPr b="0" i="0" sz="37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-45084925" y="3943225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550" lIns="243550" spcFirstLastPara="1" rIns="243550" wrap="square" tIns="2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9"/>
                <a:buFont typeface="Arial"/>
                <a:buNone/>
              </a:pPr>
              <a:r>
                <a:t/>
              </a:r>
              <a:endParaRPr b="0" i="0" sz="37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-45260575" y="3938500"/>
              <a:ext cx="227650" cy="300100"/>
            </a:xfrm>
            <a:custGeom>
              <a:rect b="b" l="l" r="r" t="t"/>
              <a:pathLst>
                <a:path extrusionOk="0" h="12004" w="910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22"/>
                  </a:lnTo>
                  <a:lnTo>
                    <a:pt x="7342" y="4222"/>
                  </a:lnTo>
                  <a:cubicBezTo>
                    <a:pt x="7562" y="4222"/>
                    <a:pt x="7720" y="4380"/>
                    <a:pt x="7720" y="4600"/>
                  </a:cubicBezTo>
                  <a:lnTo>
                    <a:pt x="7720" y="10208"/>
                  </a:lnTo>
                  <a:cubicBezTo>
                    <a:pt x="7720" y="10428"/>
                    <a:pt x="7562" y="10586"/>
                    <a:pt x="7342" y="10586"/>
                  </a:cubicBezTo>
                  <a:lnTo>
                    <a:pt x="1" y="10586"/>
                  </a:lnTo>
                  <a:lnTo>
                    <a:pt x="1" y="11626"/>
                  </a:lnTo>
                  <a:cubicBezTo>
                    <a:pt x="1" y="11846"/>
                    <a:pt x="158" y="12004"/>
                    <a:pt x="348" y="12004"/>
                  </a:cubicBezTo>
                  <a:lnTo>
                    <a:pt x="8759" y="12004"/>
                  </a:lnTo>
                  <a:cubicBezTo>
                    <a:pt x="8980" y="12004"/>
                    <a:pt x="9106" y="11846"/>
                    <a:pt x="9106" y="11626"/>
                  </a:cubicBezTo>
                  <a:lnTo>
                    <a:pt x="9106" y="2804"/>
                  </a:lnTo>
                  <a:lnTo>
                    <a:pt x="6680" y="2804"/>
                  </a:lnTo>
                  <a:lnTo>
                    <a:pt x="6680" y="2773"/>
                  </a:lnTo>
                  <a:cubicBezTo>
                    <a:pt x="6491" y="2773"/>
                    <a:pt x="6333" y="2615"/>
                    <a:pt x="6333" y="2426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550" lIns="243550" spcFirstLastPara="1" rIns="243550" wrap="square" tIns="2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9"/>
                <a:buFont typeface="Arial"/>
                <a:buNone/>
              </a:pPr>
              <a:r>
                <a:t/>
              </a:r>
              <a:endParaRPr b="0" i="0" sz="37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45277900" y="4061375"/>
              <a:ext cx="193000" cy="122875"/>
            </a:xfrm>
            <a:custGeom>
              <a:rect b="b" l="l" r="r" t="t"/>
              <a:pathLst>
                <a:path extrusionOk="0" h="4915" w="7720">
                  <a:moveTo>
                    <a:pt x="5987" y="693"/>
                  </a:moveTo>
                  <a:cubicBezTo>
                    <a:pt x="6207" y="693"/>
                    <a:pt x="6333" y="851"/>
                    <a:pt x="6333" y="1071"/>
                  </a:cubicBezTo>
                  <a:cubicBezTo>
                    <a:pt x="6302" y="1260"/>
                    <a:pt x="6144" y="1418"/>
                    <a:pt x="5987" y="1418"/>
                  </a:cubicBezTo>
                  <a:cubicBezTo>
                    <a:pt x="5798" y="1418"/>
                    <a:pt x="5640" y="1260"/>
                    <a:pt x="5640" y="1071"/>
                  </a:cubicBezTo>
                  <a:cubicBezTo>
                    <a:pt x="5640" y="851"/>
                    <a:pt x="5798" y="693"/>
                    <a:pt x="5987" y="693"/>
                  </a:cubicBezTo>
                  <a:close/>
                  <a:moveTo>
                    <a:pt x="3246" y="701"/>
                  </a:moveTo>
                  <a:cubicBezTo>
                    <a:pt x="3372" y="701"/>
                    <a:pt x="3498" y="772"/>
                    <a:pt x="3561" y="914"/>
                  </a:cubicBezTo>
                  <a:lnTo>
                    <a:pt x="4979" y="3686"/>
                  </a:lnTo>
                  <a:cubicBezTo>
                    <a:pt x="4979" y="3907"/>
                    <a:pt x="4884" y="4096"/>
                    <a:pt x="4727" y="4159"/>
                  </a:cubicBezTo>
                  <a:cubicBezTo>
                    <a:pt x="4695" y="4222"/>
                    <a:pt x="4601" y="4222"/>
                    <a:pt x="4569" y="4222"/>
                  </a:cubicBezTo>
                  <a:cubicBezTo>
                    <a:pt x="4443" y="4222"/>
                    <a:pt x="4349" y="4127"/>
                    <a:pt x="4254" y="4001"/>
                  </a:cubicBezTo>
                  <a:lnTo>
                    <a:pt x="4033" y="3497"/>
                  </a:lnTo>
                  <a:lnTo>
                    <a:pt x="2364" y="3497"/>
                  </a:lnTo>
                  <a:lnTo>
                    <a:pt x="2143" y="4001"/>
                  </a:lnTo>
                  <a:cubicBezTo>
                    <a:pt x="2075" y="4115"/>
                    <a:pt x="1940" y="4196"/>
                    <a:pt x="1811" y="4196"/>
                  </a:cubicBezTo>
                  <a:cubicBezTo>
                    <a:pt x="1762" y="4196"/>
                    <a:pt x="1714" y="4185"/>
                    <a:pt x="1671" y="4159"/>
                  </a:cubicBezTo>
                  <a:cubicBezTo>
                    <a:pt x="1513" y="4096"/>
                    <a:pt x="1419" y="3844"/>
                    <a:pt x="1513" y="3686"/>
                  </a:cubicBezTo>
                  <a:lnTo>
                    <a:pt x="2931" y="914"/>
                  </a:lnTo>
                  <a:cubicBezTo>
                    <a:pt x="2994" y="772"/>
                    <a:pt x="3120" y="701"/>
                    <a:pt x="3246" y="701"/>
                  </a:cubicBezTo>
                  <a:close/>
                  <a:moveTo>
                    <a:pt x="5955" y="2079"/>
                  </a:moveTo>
                  <a:cubicBezTo>
                    <a:pt x="6144" y="2079"/>
                    <a:pt x="6302" y="2237"/>
                    <a:pt x="6302" y="2426"/>
                  </a:cubicBezTo>
                  <a:lnTo>
                    <a:pt x="6302" y="3844"/>
                  </a:lnTo>
                  <a:cubicBezTo>
                    <a:pt x="6302" y="4064"/>
                    <a:pt x="6144" y="4222"/>
                    <a:pt x="5955" y="4222"/>
                  </a:cubicBezTo>
                  <a:cubicBezTo>
                    <a:pt x="5766" y="4222"/>
                    <a:pt x="5609" y="4064"/>
                    <a:pt x="5609" y="3844"/>
                  </a:cubicBezTo>
                  <a:lnTo>
                    <a:pt x="5609" y="2426"/>
                  </a:lnTo>
                  <a:cubicBezTo>
                    <a:pt x="5609" y="2237"/>
                    <a:pt x="5766" y="2079"/>
                    <a:pt x="5955" y="2079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68"/>
                  </a:lnTo>
                  <a:cubicBezTo>
                    <a:pt x="1" y="4757"/>
                    <a:pt x="158" y="4915"/>
                    <a:pt x="347" y="4915"/>
                  </a:cubicBezTo>
                  <a:lnTo>
                    <a:pt x="7720" y="4915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550" lIns="243550" spcFirstLastPara="1" rIns="243550" wrap="square" tIns="2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9"/>
                <a:buFont typeface="Arial"/>
                <a:buNone/>
              </a:pPr>
              <a:r>
                <a:t/>
              </a:r>
              <a:endParaRPr b="0" i="0" sz="37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484675" y="1893675"/>
            <a:ext cx="46947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Capítulo 1 – Introdução</a:t>
            </a:r>
            <a:endParaRPr b="1"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Capítulo 2 – Estado da Arte</a:t>
            </a:r>
            <a:endParaRPr b="1"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Capítulo 3 – Metodologia</a:t>
            </a:r>
            <a:endParaRPr b="1"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Capítulo 4 – Solução Proposta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Capítulo 5 – Experimento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Referências e Apêndices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484675" y="716350"/>
            <a:ext cx="48408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ESTRUTURA DA DISSERTAÇÃO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 flipH="1">
            <a:off x="0" y="-14875"/>
            <a:ext cx="2491500" cy="5158500"/>
          </a:xfrm>
          <a:prstGeom prst="round1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28" title="Gemini_Generated_Image_smf1tbsmf1tbsmf1.png"/>
          <p:cNvPicPr preferRelativeResize="0"/>
          <p:nvPr/>
        </p:nvPicPr>
        <p:blipFill rotWithShape="1">
          <a:blip r:embed="rId3">
            <a:alphaModFix/>
          </a:blip>
          <a:srcRect b="0" l="2390" r="2390" t="0"/>
          <a:stretch/>
        </p:blipFill>
        <p:spPr>
          <a:xfrm>
            <a:off x="1274950" y="297150"/>
            <a:ext cx="2417700" cy="4549200"/>
          </a:xfrm>
          <a:prstGeom prst="roundRect">
            <a:avLst>
              <a:gd fmla="val 50000" name="adj"/>
            </a:avLst>
          </a:prstGeom>
          <a:noFill/>
          <a:ln cap="flat" cmpd="sng" w="762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0" name="Google Shape;270;p28"/>
          <p:cNvSpPr txBox="1"/>
          <p:nvPr/>
        </p:nvSpPr>
        <p:spPr>
          <a:xfrm>
            <a:off x="4172100" y="297150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II - ESTADO DA ARTE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4172100" y="794300"/>
            <a:ext cx="43473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Eixos Fundamentais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Etapas da ER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Elicitação de Requisitos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Métodos de Elicitação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Métodos Colaborativos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Plataformas Colaborativas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strateegia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Inteligência Artificial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Natural Language Processing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Large Language Models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writer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"/>
              <a:buAutoNum type="arabicPeriod"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Ferramentas Consolidadas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4">
            <a:alphaModFix/>
          </a:blip>
          <a:srcRect b="29" l="0" r="0" t="29"/>
          <a:stretch/>
        </p:blipFill>
        <p:spPr>
          <a:xfrm>
            <a:off x="395525" y="297150"/>
            <a:ext cx="556575" cy="4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/>
        </p:nvSpPr>
        <p:spPr>
          <a:xfrm>
            <a:off x="707500" y="3279288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ENGENHARIA DE REQUISITOS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3421475" y="3279288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PLATAFORMAS </a:t>
            </a: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COLABORATIVAS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6071275" y="3279288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INTELIGÊNCIA ARTIFICIAL (LLM)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283" name="Google Shape;283;p29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3719994" y="-2556700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707500" y="2115400"/>
            <a:ext cx="4346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EIXOS FUNDAMENTAIS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3072700" y="3474000"/>
            <a:ext cx="361800" cy="361800"/>
          </a:xfrm>
          <a:prstGeom prst="mathPlus">
            <a:avLst>
              <a:gd fmla="val 23520" name="adj1"/>
            </a:avLst>
          </a:prstGeom>
          <a:solidFill>
            <a:srgbClr val="FF600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5709475" y="3474000"/>
            <a:ext cx="361800" cy="361800"/>
          </a:xfrm>
          <a:prstGeom prst="mathPlus">
            <a:avLst>
              <a:gd fmla="val 23520" name="adj1"/>
            </a:avLst>
          </a:prstGeom>
          <a:solidFill>
            <a:srgbClr val="FF600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 title="prof-ian-sommerville-main.jpg"/>
          <p:cNvPicPr preferRelativeResize="0"/>
          <p:nvPr/>
        </p:nvPicPr>
        <p:blipFill rotWithShape="1">
          <a:blip r:embed="rId3">
            <a:alphaModFix/>
          </a:blip>
          <a:srcRect b="12005" l="0" r="0" t="12013"/>
          <a:stretch/>
        </p:blipFill>
        <p:spPr>
          <a:xfrm>
            <a:off x="6165900" y="642450"/>
            <a:ext cx="3860700" cy="3858600"/>
          </a:xfrm>
          <a:prstGeom prst="ellipse">
            <a:avLst/>
          </a:prstGeom>
          <a:noFill/>
          <a:ln cap="flat" cmpd="sng" w="1143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30"/>
          <p:cNvSpPr txBox="1"/>
          <p:nvPr/>
        </p:nvSpPr>
        <p:spPr>
          <a:xfrm>
            <a:off x="459500" y="532800"/>
            <a:ext cx="5170500" cy="3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1" lang="pt-BR" sz="29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  <a:r>
              <a:rPr i="1" lang="pt-BR" sz="25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A ER é o processo de estabelecer os serviços que o cliente requer de um sistema, bem como as restrições sob as quais ele deve operar [...] constitui a base para todo o processo de desenvolvimento, sendo determinante para a qualidade do produto final"</a:t>
            </a:r>
            <a:endParaRPr i="1" sz="25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i="1" sz="25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(SOMMERVILLE, 2011)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5" name="Google Shape;295;p30"/>
          <p:cNvSpPr/>
          <p:nvPr/>
        </p:nvSpPr>
        <p:spPr>
          <a:xfrm rot="-5400000">
            <a:off x="6149150" y="-556600"/>
            <a:ext cx="2100300" cy="20697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/>
          <p:nvPr/>
        </p:nvSpPr>
        <p:spPr>
          <a:xfrm rot="5400000">
            <a:off x="706860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484675" y="1616313"/>
            <a:ext cx="80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557000" y="390825"/>
            <a:ext cx="4937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ETAPAS DA ER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484675" y="790200"/>
            <a:ext cx="7893600" cy="4160700"/>
          </a:xfrm>
          <a:prstGeom prst="triangle">
            <a:avLst>
              <a:gd fmla="val 50000" name="adj"/>
            </a:avLst>
          </a:prstGeom>
          <a:solidFill>
            <a:srgbClr val="FF60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" name="Google Shape;306;p31"/>
          <p:cNvCxnSpPr/>
          <p:nvPr/>
        </p:nvCxnSpPr>
        <p:spPr>
          <a:xfrm>
            <a:off x="1132025" y="4384000"/>
            <a:ext cx="66072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1"/>
          <p:cNvCxnSpPr/>
          <p:nvPr/>
        </p:nvCxnSpPr>
        <p:spPr>
          <a:xfrm>
            <a:off x="1915725" y="3660575"/>
            <a:ext cx="50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1"/>
          <p:cNvCxnSpPr/>
          <p:nvPr/>
        </p:nvCxnSpPr>
        <p:spPr>
          <a:xfrm>
            <a:off x="3579575" y="2153475"/>
            <a:ext cx="17484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1"/>
          <p:cNvCxnSpPr/>
          <p:nvPr/>
        </p:nvCxnSpPr>
        <p:spPr>
          <a:xfrm>
            <a:off x="2783825" y="2852775"/>
            <a:ext cx="327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31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 txBox="1"/>
          <p:nvPr>
            <p:ph type="title"/>
          </p:nvPr>
        </p:nvSpPr>
        <p:spPr>
          <a:xfrm>
            <a:off x="3487606" y="1686625"/>
            <a:ext cx="2031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GERENCIAMENTO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3" name="Google Shape;313;p31"/>
          <p:cNvSpPr txBox="1"/>
          <p:nvPr>
            <p:ph idx="4294967295" type="title"/>
          </p:nvPr>
        </p:nvSpPr>
        <p:spPr>
          <a:xfrm>
            <a:off x="3651157" y="2372488"/>
            <a:ext cx="15444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VALIDAÇÃO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4" name="Google Shape;314;p31"/>
          <p:cNvSpPr txBox="1"/>
          <p:nvPr>
            <p:ph idx="4294967295" type="title"/>
          </p:nvPr>
        </p:nvSpPr>
        <p:spPr>
          <a:xfrm>
            <a:off x="3388050" y="3075650"/>
            <a:ext cx="20319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ESPECIFICAÇÃO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315;p31"/>
          <p:cNvSpPr txBox="1"/>
          <p:nvPr>
            <p:ph idx="4294967295" type="title"/>
          </p:nvPr>
        </p:nvSpPr>
        <p:spPr>
          <a:xfrm>
            <a:off x="3811941" y="3841263"/>
            <a:ext cx="1201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ANÁLISE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316;p31"/>
          <p:cNvSpPr txBox="1"/>
          <p:nvPr>
            <p:ph idx="4294967295" type="title"/>
          </p:nvPr>
        </p:nvSpPr>
        <p:spPr>
          <a:xfrm>
            <a:off x="3682013" y="4447400"/>
            <a:ext cx="1544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ELICITAÇÃO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/>
        </p:nvSpPr>
        <p:spPr>
          <a:xfrm>
            <a:off x="484675" y="1616313"/>
            <a:ext cx="8009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Visa identificar, compreender e documentar as reais </a:t>
            </a: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necessidades, expectativas e restrições dos stakeholders.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Por possuir uma natureza essencialmente cognitiva e social, </a:t>
            </a: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elicitação depende profundamente da comunicação e da colaboração entre as partes envolvidas.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Essa fase é fundamental para mitigar falhas de entendimento mútuo, sendo </a:t>
            </a: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escolha de métodos apropriados vital para evitar distorções de interpretação e o insucesso de projetos.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484675" y="716350"/>
            <a:ext cx="4937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ELICITAÇÃO DE REQUISITOS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/>
        </p:nvSpPr>
        <p:spPr>
          <a:xfrm>
            <a:off x="2099250" y="100575"/>
            <a:ext cx="4945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MÉTODOS DE ELICITAÇÃO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p33"/>
          <p:cNvGraphicFramePr/>
          <p:nvPr/>
        </p:nvGraphicFramePr>
        <p:xfrm>
          <a:off x="476250" y="76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{F25213B3-F16B-40E9-90FE-E62AE806B23E}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774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Tradicionais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Colaborativos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Baseados em cenários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Estruturados e analíticos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Modernos e assistidos por tecnologia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9981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Baseiam-se na interação direta entre analista e usuário por meio de técnicas simples e flexíveis, como entrevistas, questionários e observação direta.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Envolvem múltiplos stakeholders em sessões participativas e democráticas, como o JAD e a NGT, visando o consenso e o engajamento coletivo.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Utilizam narrativas e exemplos de situações de uso real, como casos de uso e storyboards, para compreender as interações entre usuários e o sistema.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Empregam abordagens sistemáticas e formais para traduzir as necessidades dos clientes em especificações técnicas com alta rastreabilidade.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Utilizam ferramentas avançadas, como Inteligência Artificial e modelos de linguagem (LLMs), para automatizar a geração, revisão e classificação de requisitos.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/>
        </p:nvSpPr>
        <p:spPr>
          <a:xfrm>
            <a:off x="1515225" y="1207825"/>
            <a:ext cx="31350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Joint Application Development (JAD)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Definição: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Workshops estruturados que reúnem usuários e desenvolvedores, mediados por um facilitador, para promover o consenso e o entendimento mútuo.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Aplicação: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Focado na interação direta para levantar requisitos funcionais, embora possua limitações em requisitos técnicos complexos como segurança.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34"/>
          <p:cNvGrpSpPr/>
          <p:nvPr/>
        </p:nvGrpSpPr>
        <p:grpSpPr>
          <a:xfrm>
            <a:off x="834804" y="3119397"/>
            <a:ext cx="487782" cy="631985"/>
            <a:chOff x="1824779" y="2909234"/>
            <a:chExt cx="487782" cy="631985"/>
          </a:xfrm>
        </p:grpSpPr>
        <p:sp>
          <p:nvSpPr>
            <p:cNvPr id="338" name="Google Shape;338;p34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" name="Google Shape;339;p34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0" name="Google Shape;340;p34"/>
          <p:cNvGrpSpPr/>
          <p:nvPr/>
        </p:nvGrpSpPr>
        <p:grpSpPr>
          <a:xfrm>
            <a:off x="4881485" y="3119389"/>
            <a:ext cx="487782" cy="631985"/>
            <a:chOff x="6810747" y="2909239"/>
            <a:chExt cx="487782" cy="631985"/>
          </a:xfrm>
        </p:grpSpPr>
        <p:sp>
          <p:nvSpPr>
            <p:cNvPr id="341" name="Google Shape;341;p34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3" name="Google Shape;343;p34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759850" y="492975"/>
            <a:ext cx="561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MÉTODOS COLABORATIVOS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5591425" y="1189950"/>
            <a:ext cx="28260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Nominal Group Technique (NGT)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Definição: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Método estruturado de geração e priorização de ideias que garante a participação equitativa de todos os stakeholders.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Processo: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Envolve etapas de geração individual silenciosa, apresentação controlada e votação anônima, evitando o domínio de indivíduos mais influentes.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/>
        </p:nvSpPr>
        <p:spPr>
          <a:xfrm>
            <a:off x="468600" y="1616325"/>
            <a:ext cx="5428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Plataformas colaborativas digitais são ambientes sociotécnicos estruturados que medeiam interações síncronas e assíncronas para a </a:t>
            </a:r>
            <a:r>
              <a:rPr b="1"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construção coletiva de conhecimento, soluções e decisões</a:t>
            </a:r>
            <a:r>
              <a:rPr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484675" y="471225"/>
            <a:ext cx="5604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PLATAFORMAS COLABORATIVAS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5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5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5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6" title="Andre-Neves-Perfil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6165900" y="642450"/>
            <a:ext cx="3860700" cy="3858600"/>
          </a:xfrm>
          <a:prstGeom prst="ellipse">
            <a:avLst/>
          </a:prstGeom>
          <a:noFill/>
          <a:ln cap="flat" cmpd="sng" w="1143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4" name="Google Shape;364;p36"/>
          <p:cNvSpPr txBox="1"/>
          <p:nvPr/>
        </p:nvSpPr>
        <p:spPr>
          <a:xfrm>
            <a:off x="476975" y="290400"/>
            <a:ext cx="51705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1" lang="pt-BR" sz="22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“A colaboração criativa ocorre no espaço-tempo figital, onde o ambiente físico é ampliado pelo digital e orquestrado pelo social, exigindo novas formas de interação sustentadas por processos dialógicos para a construção coletiva de conhecimento. [...] Essa dinâmica produz artefatos sociais, que são frutos diretos de práticas discursivas e interações humanas.”</a:t>
            </a:r>
            <a:endParaRPr i="1" sz="22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i="1" sz="25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(NEVES, 2022)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5" name="Google Shape;365;p36"/>
          <p:cNvSpPr/>
          <p:nvPr/>
        </p:nvSpPr>
        <p:spPr>
          <a:xfrm rot="-5400000">
            <a:off x="6149150" y="-556600"/>
            <a:ext cx="2100300" cy="20697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6"/>
          <p:cNvSpPr/>
          <p:nvPr/>
        </p:nvSpPr>
        <p:spPr>
          <a:xfrm rot="5400000">
            <a:off x="706860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/>
        </p:nvSpPr>
        <p:spPr>
          <a:xfrm>
            <a:off x="484675" y="716338"/>
            <a:ext cx="3801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strateegia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37"/>
          <p:cNvPicPr preferRelativeResize="0"/>
          <p:nvPr/>
        </p:nvPicPr>
        <p:blipFill rotWithShape="1">
          <a:blip r:embed="rId3">
            <a:alphaModFix/>
          </a:blip>
          <a:srcRect b="0" l="0" r="61228" t="0"/>
          <a:stretch/>
        </p:blipFill>
        <p:spPr>
          <a:xfrm>
            <a:off x="484675" y="1581338"/>
            <a:ext cx="2135651" cy="32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7"/>
          <p:cNvSpPr txBox="1"/>
          <p:nvPr/>
        </p:nvSpPr>
        <p:spPr>
          <a:xfrm>
            <a:off x="3242775" y="2415225"/>
            <a:ext cx="5497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trateegia é projetada para suportar processos de divergência e convergência, </a:t>
            </a: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permitindo que grupos debatam e validem hipóteses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 forma estruturada em "jornadas".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/>
        </p:nvSpPr>
        <p:spPr>
          <a:xfrm>
            <a:off x="484675" y="1863000"/>
            <a:ext cx="6212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Campo voltado ao desenvolvimento de sistemas capazes de executar tarefas que exigem inteligência humana, </a:t>
            </a:r>
            <a:r>
              <a:rPr b="1" lang="pt-BR" sz="2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como raciocínio, aprendizado e interpretação de linguagem</a:t>
            </a:r>
            <a:r>
              <a:rPr lang="pt-BR" sz="2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2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484675" y="716350"/>
            <a:ext cx="49632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INTELIGÊNCIA ARTIFICIAL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8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8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8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8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/>
          <p:nvPr/>
        </p:nvSpPr>
        <p:spPr>
          <a:xfrm>
            <a:off x="484675" y="1282750"/>
            <a:ext cx="5604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É uma subárea da Inteligência Artificial que permite às máquinas </a:t>
            </a: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compreender, interpretar e gerar linguagem humana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 forma significativa.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Atualmente, o NLP constitui o </a:t>
            </a: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fundamento técnico dos Modelos de Linguagem de Grande Escala (LLMs)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sendo essencial para a automação de processos cognitivos.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	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2" name="Google Shape;392;p39"/>
          <p:cNvSpPr txBox="1"/>
          <p:nvPr/>
        </p:nvSpPr>
        <p:spPr>
          <a:xfrm>
            <a:off x="484675" y="716350"/>
            <a:ext cx="4944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1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NATURAL LANGUAGE PROCESSING</a:t>
            </a:r>
            <a:endParaRPr b="0" i="0" sz="1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9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9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9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/>
        </p:nvSpPr>
        <p:spPr>
          <a:xfrm>
            <a:off x="484675" y="1616325"/>
            <a:ext cx="62127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São modelos de larga escala (como o GPT-4.1) treinados em volumes massivos de dados, capazes de compreender nuances semânticas e realizar tarefas complexas com poucos exemplos (few-shot learning).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ChatGPT 4.1 é um modelo de linguagem de larga escala (LLM) baseado na arquitetura Transformer, </a:t>
            </a: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capaz de compreender e gerar linguagem natural de forma contextualizada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	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484675" y="716350"/>
            <a:ext cx="4952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LARGE LANGUAGE MODELS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0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0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0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0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0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/>
        </p:nvSpPr>
        <p:spPr>
          <a:xfrm>
            <a:off x="503188" y="329788"/>
            <a:ext cx="3801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writer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1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41"/>
          <p:cNvPicPr preferRelativeResize="0"/>
          <p:nvPr/>
        </p:nvPicPr>
        <p:blipFill rotWithShape="1">
          <a:blip r:embed="rId3">
            <a:alphaModFix/>
          </a:blip>
          <a:srcRect b="0" l="0" r="49862" t="0"/>
          <a:stretch/>
        </p:blipFill>
        <p:spPr>
          <a:xfrm>
            <a:off x="302700" y="1124075"/>
            <a:ext cx="2899726" cy="373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1"/>
          <p:cNvPicPr preferRelativeResize="0"/>
          <p:nvPr/>
        </p:nvPicPr>
        <p:blipFill rotWithShape="1">
          <a:blip r:embed="rId4">
            <a:alphaModFix/>
          </a:blip>
          <a:srcRect b="0" l="0" r="47669" t="0"/>
          <a:stretch/>
        </p:blipFill>
        <p:spPr>
          <a:xfrm>
            <a:off x="3420574" y="1124075"/>
            <a:ext cx="2714825" cy="37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1"/>
          <p:cNvSpPr txBox="1"/>
          <p:nvPr/>
        </p:nvSpPr>
        <p:spPr>
          <a:xfrm>
            <a:off x="6353550" y="1615950"/>
            <a:ext cx="23400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plataforma strateegia possui o applet writer, que utiliza modelos de linguagem (GPT-4.1) para sintetizar discussões automaticamente. 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Isso garantiu a consistência experimental, evitando o uso de ferramentas externas que poderiam introduzir variáveis indesejadas ao estudo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3" name="Google Shape;423;p42"/>
          <p:cNvGraphicFramePr/>
          <p:nvPr/>
        </p:nvGraphicFramePr>
        <p:xfrm>
          <a:off x="494975" y="717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{6756C531-8D6E-475B-BB3C-A63F1548008F}</a:tableStyleId>
              </a:tblPr>
              <a:tblGrid>
                <a:gridCol w="2038525"/>
                <a:gridCol w="1403925"/>
                <a:gridCol w="1078700"/>
                <a:gridCol w="1150075"/>
                <a:gridCol w="943825"/>
                <a:gridCol w="729750"/>
                <a:gridCol w="809375"/>
              </a:tblGrid>
              <a:tr h="40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Critério / Funcionalidade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"/>
                          <a:ea typeface="Barlow"/>
                          <a:cs typeface="Barlow"/>
                          <a:sym typeface="Barlow"/>
                        </a:rPr>
                        <a:t>Solução Proposta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Jama Connect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IBM DOORS Next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aqua Cloud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ReqView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Valispace</a:t>
                      </a:r>
                      <a:endParaRPr sz="1600">
                        <a:solidFill>
                          <a:srgbClr val="000000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40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Colaboração Real/Assín</a:t>
                      </a:r>
                      <a:r>
                        <a:rPr b="1" lang="pt-BR" sz="1250">
                          <a:latin typeface="Barlow"/>
                          <a:ea typeface="Barlow"/>
                          <a:cs typeface="Barlow"/>
                          <a:sym typeface="Barlow"/>
                        </a:rPr>
                        <a:t>crona</a:t>
                      </a:r>
                      <a:endParaRPr b="1" sz="125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40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Jornadas de Debate Estruturadas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3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Síntese de Discussões (IA)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40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Geração de Requisitos (LLM)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3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Revisão Inteligente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 </a:t>
                      </a:r>
                      <a:r>
                        <a:rPr i="0" lang="pt-BR" u="none" cap="none" strike="noStrike">
                          <a:latin typeface="Barlow"/>
                          <a:ea typeface="Barlow"/>
                          <a:cs typeface="Barlow"/>
                          <a:sym typeface="Barlow"/>
                        </a:rPr>
                        <a:t>(parcial)</a:t>
                      </a:r>
                      <a:endParaRPr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40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Suporte a Normas (ISO 29148)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3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Métodos de Elicitação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3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pt-BR" sz="1250" u="none" cap="none" strike="noStrike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IA Integrada ao Fluxo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  <a:tr h="3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50"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Escalabilidade corporativa</a:t>
                      </a:r>
                      <a:endParaRPr i="0" sz="1250" u="none" cap="none" strike="noStrike"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✓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0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✗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Barlow"/>
                          <a:ea typeface="Barlow"/>
                          <a:cs typeface="Barlow"/>
                          <a:sym typeface="Barlow"/>
                        </a:rPr>
                        <a:t>✓</a:t>
                      </a:r>
                      <a:endParaRPr u="none" cap="none" strike="noStrik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7EE"/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p42"/>
          <p:cNvSpPr txBox="1"/>
          <p:nvPr/>
        </p:nvSpPr>
        <p:spPr>
          <a:xfrm>
            <a:off x="494925" y="101425"/>
            <a:ext cx="815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5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FERRAMENTAS CONSOLIDADAS</a:t>
            </a:r>
            <a:endParaRPr b="1" sz="35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/>
          <p:nvPr/>
        </p:nvSpPr>
        <p:spPr>
          <a:xfrm flipH="1">
            <a:off x="0" y="-14875"/>
            <a:ext cx="2491500" cy="5158500"/>
          </a:xfrm>
          <a:prstGeom prst="round1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43" title="Gemini_Generated_Image_ht36s7ht36s7ht36.png"/>
          <p:cNvPicPr preferRelativeResize="0"/>
          <p:nvPr/>
        </p:nvPicPr>
        <p:blipFill rotWithShape="1">
          <a:blip r:embed="rId3">
            <a:alphaModFix/>
          </a:blip>
          <a:srcRect b="0" l="2390" r="2390" t="0"/>
          <a:stretch/>
        </p:blipFill>
        <p:spPr>
          <a:xfrm>
            <a:off x="1274950" y="297150"/>
            <a:ext cx="2417700" cy="4549200"/>
          </a:xfrm>
          <a:prstGeom prst="roundRect">
            <a:avLst>
              <a:gd fmla="val 50000" name="adj"/>
            </a:avLst>
          </a:prstGeom>
          <a:noFill/>
          <a:ln cap="flat" cmpd="sng" w="762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1" name="Google Shape;431;p43"/>
          <p:cNvSpPr txBox="1"/>
          <p:nvPr/>
        </p:nvSpPr>
        <p:spPr>
          <a:xfrm>
            <a:off x="4140925" y="794300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III - Metodologia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3"/>
          <p:cNvSpPr txBox="1"/>
          <p:nvPr/>
        </p:nvSpPr>
        <p:spPr>
          <a:xfrm>
            <a:off x="4140925" y="1291450"/>
            <a:ext cx="43473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Tipo de Pesquisa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Construção da Proposta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Protocolo Experimental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Variáveis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Critérios de Avaliação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Estratégia de Análise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Validade e Confiabilidade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Limitações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33" name="Google Shape;433;p43"/>
          <p:cNvPicPr preferRelativeResize="0"/>
          <p:nvPr/>
        </p:nvPicPr>
        <p:blipFill rotWithShape="1">
          <a:blip r:embed="rId4">
            <a:alphaModFix/>
          </a:blip>
          <a:srcRect b="30" l="0" r="0" t="30"/>
          <a:stretch/>
        </p:blipFill>
        <p:spPr>
          <a:xfrm>
            <a:off x="395525" y="297150"/>
            <a:ext cx="556575" cy="4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3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3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/>
          <p:nvPr/>
        </p:nvSpPr>
        <p:spPr>
          <a:xfrm>
            <a:off x="675425" y="330650"/>
            <a:ext cx="3207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TIPO DE PESQUISA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442" name="Google Shape;442;p44"/>
          <p:cNvSpPr txBox="1"/>
          <p:nvPr/>
        </p:nvSpPr>
        <p:spPr>
          <a:xfrm>
            <a:off x="675425" y="1980400"/>
            <a:ext cx="2365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1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Métodos Mistos</a:t>
            </a:r>
            <a:endParaRPr i="0" sz="2100" u="none" cap="none" strike="noStrike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443" name="Google Shape;443;p44"/>
          <p:cNvSpPr txBox="1"/>
          <p:nvPr/>
        </p:nvSpPr>
        <p:spPr>
          <a:xfrm>
            <a:off x="675425" y="2398900"/>
            <a:ext cx="2365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Combina métricas objetivas com análises interpretativas.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4" name="Google Shape;444;p44"/>
          <p:cNvSpPr txBox="1"/>
          <p:nvPr/>
        </p:nvSpPr>
        <p:spPr>
          <a:xfrm>
            <a:off x="3389400" y="1746400"/>
            <a:ext cx="2365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1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Between-subjects</a:t>
            </a:r>
            <a:endParaRPr sz="2100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3389400" y="2398900"/>
            <a:ext cx="2365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Cada grupo testou apenas uma condição.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6" name="Google Shape;446;p44"/>
          <p:cNvSpPr txBox="1"/>
          <p:nvPr/>
        </p:nvSpPr>
        <p:spPr>
          <a:xfrm>
            <a:off x="6103375" y="1746400"/>
            <a:ext cx="2365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1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Quality Improvement Paradigm</a:t>
            </a:r>
            <a:endParaRPr i="0" sz="2100" u="none" cap="none" strike="noStrike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447" name="Google Shape;447;p44"/>
          <p:cNvSpPr txBox="1"/>
          <p:nvPr/>
        </p:nvSpPr>
        <p:spPr>
          <a:xfrm>
            <a:off x="6103375" y="2398900"/>
            <a:ext cx="23652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Estruturada em etapas de caracterização, definição, execução, análise e empacotamento do conhecimento.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8" name="Google Shape;448;p44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4"/>
          <p:cNvSpPr/>
          <p:nvPr/>
        </p:nvSpPr>
        <p:spPr>
          <a:xfrm>
            <a:off x="3587450" y="-293150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4"/>
          <p:cNvSpPr/>
          <p:nvPr/>
        </p:nvSpPr>
        <p:spPr>
          <a:xfrm>
            <a:off x="3695894" y="-326362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 txBox="1"/>
          <p:nvPr/>
        </p:nvSpPr>
        <p:spPr>
          <a:xfrm>
            <a:off x="567300" y="1616313"/>
            <a:ext cx="800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A proposta organiza-se em três etapas principais: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484675" y="716350"/>
            <a:ext cx="49464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8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CONSTRUÇÃO DA PROPOSTA</a:t>
            </a:r>
            <a:endParaRPr b="0" i="0" sz="6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484675" y="2031825"/>
            <a:ext cx="210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Coleta Colaborativa</a:t>
            </a:r>
            <a:endParaRPr/>
          </a:p>
        </p:txBody>
      </p:sp>
      <p:sp>
        <p:nvSpPr>
          <p:cNvPr id="460" name="Google Shape;460;p45"/>
          <p:cNvSpPr txBox="1"/>
          <p:nvPr/>
        </p:nvSpPr>
        <p:spPr>
          <a:xfrm>
            <a:off x="567300" y="3849775"/>
            <a:ext cx="8009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Diferente de abordagens puramente automatizadas, </a:t>
            </a:r>
            <a:r>
              <a:rPr b="1" lang="pt-BR" sz="1500">
                <a:solidFill>
                  <a:schemeClr val="dk1"/>
                </a:solidFill>
              </a:rPr>
              <a:t>a proposta posiciona a IA como um sistema de apoio cognitivo que formaliza o consenso humano</a:t>
            </a:r>
            <a:r>
              <a:rPr lang="pt-BR" sz="1500">
                <a:solidFill>
                  <a:schemeClr val="dk1"/>
                </a:solidFill>
              </a:rPr>
              <a:t>, mantendo os stakeholders no centro do processo.	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3590100" y="2031825"/>
            <a:ext cx="196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Organização Digital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2" name="Google Shape;462;p45"/>
          <p:cNvSpPr txBox="1"/>
          <p:nvPr/>
        </p:nvSpPr>
        <p:spPr>
          <a:xfrm>
            <a:off x="6425400" y="2031825"/>
            <a:ext cx="156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Síntese por IA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63" name="Google Shape;463;p45"/>
          <p:cNvGrpSpPr/>
          <p:nvPr/>
        </p:nvGrpSpPr>
        <p:grpSpPr>
          <a:xfrm>
            <a:off x="1065752" y="2571748"/>
            <a:ext cx="944124" cy="946509"/>
            <a:chOff x="-61784125" y="3377700"/>
            <a:chExt cx="316650" cy="317450"/>
          </a:xfrm>
        </p:grpSpPr>
        <p:sp>
          <p:nvSpPr>
            <p:cNvPr id="464" name="Google Shape;464;p45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5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5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5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5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5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5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5600" lIns="235600" spcFirstLastPara="1" rIns="235600" wrap="square" tIns="235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8"/>
                <a:buFont typeface="Arial"/>
                <a:buNone/>
              </a:pPr>
              <a:r>
                <a:t/>
              </a:r>
              <a:endParaRPr b="0" i="0" sz="36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45"/>
          <p:cNvGrpSpPr/>
          <p:nvPr/>
        </p:nvGrpSpPr>
        <p:grpSpPr>
          <a:xfrm>
            <a:off x="4099933" y="2572964"/>
            <a:ext cx="944134" cy="944074"/>
            <a:chOff x="-44512325" y="3176075"/>
            <a:chExt cx="300900" cy="300900"/>
          </a:xfrm>
        </p:grpSpPr>
        <p:sp>
          <p:nvSpPr>
            <p:cNvPr id="472" name="Google Shape;472;p45"/>
            <p:cNvSpPr/>
            <p:nvPr/>
          </p:nvSpPr>
          <p:spPr>
            <a:xfrm>
              <a:off x="-44512325" y="3176075"/>
              <a:ext cx="300900" cy="300900"/>
            </a:xfrm>
            <a:custGeom>
              <a:rect b="b" l="l" r="r" t="t"/>
              <a:pathLst>
                <a:path extrusionOk="0" h="12036" w="12036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2325" lIns="242325" spcFirstLastPara="1" rIns="242325" wrap="square" tIns="24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1"/>
                <a:buFont typeface="Arial"/>
                <a:buNone/>
              </a:pPr>
              <a:r>
                <a:t/>
              </a:r>
              <a:endParaRPr b="0" i="0" sz="37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5"/>
            <p:cNvSpPr/>
            <p:nvPr/>
          </p:nvSpPr>
          <p:spPr>
            <a:xfrm>
              <a:off x="-44369750" y="3317850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2325" lIns="242325" spcFirstLastPara="1" rIns="242325" wrap="square" tIns="24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1"/>
                <a:buFont typeface="Arial"/>
                <a:buNone/>
              </a:pPr>
              <a:r>
                <a:t/>
              </a:r>
              <a:endParaRPr b="0" i="0" sz="37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5"/>
            <p:cNvSpPr/>
            <p:nvPr/>
          </p:nvSpPr>
          <p:spPr>
            <a:xfrm>
              <a:off x="-44411500" y="3275325"/>
              <a:ext cx="100825" cy="102400"/>
            </a:xfrm>
            <a:custGeom>
              <a:rect b="b" l="l" r="r" t="t"/>
              <a:pathLst>
                <a:path extrusionOk="0" h="4096" w="4033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2325" lIns="242325" spcFirstLastPara="1" rIns="242325" wrap="square" tIns="24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1"/>
                <a:buFont typeface="Arial"/>
                <a:buNone/>
              </a:pPr>
              <a:r>
                <a:t/>
              </a:r>
              <a:endParaRPr b="0" i="0" sz="37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" name="Google Shape;475;p45"/>
          <p:cNvGrpSpPr/>
          <p:nvPr/>
        </p:nvGrpSpPr>
        <p:grpSpPr>
          <a:xfrm>
            <a:off x="6736345" y="2577957"/>
            <a:ext cx="944113" cy="934099"/>
            <a:chOff x="946175" y="3619500"/>
            <a:chExt cx="296975" cy="293825"/>
          </a:xfrm>
        </p:grpSpPr>
        <p:sp>
          <p:nvSpPr>
            <p:cNvPr id="476" name="Google Shape;476;p45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5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5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5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5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5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5900" lIns="245900" spcFirstLastPara="1" rIns="245900" wrap="square" tIns="24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65"/>
                <a:buFont typeface="Arial"/>
                <a:buNone/>
              </a:pPr>
              <a:r>
                <a:t/>
              </a:r>
              <a:endParaRPr b="0" i="0" sz="3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"/>
          <p:cNvSpPr txBox="1"/>
          <p:nvPr/>
        </p:nvSpPr>
        <p:spPr>
          <a:xfrm>
            <a:off x="484675" y="1381150"/>
            <a:ext cx="3884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O experimento comparou diferentes métodos de elicitação para o mesmo problema: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A:</a:t>
            </a:r>
            <a:r>
              <a:rPr lang="pt-BR" sz="1600">
                <a:solidFill>
                  <a:schemeClr val="dk1"/>
                </a:solidFill>
              </a:rPr>
              <a:t> Métodos colaborativos (JAD + NGT) sem IA.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B:</a:t>
            </a:r>
            <a:r>
              <a:rPr lang="pt-BR" sz="1600">
                <a:solidFill>
                  <a:schemeClr val="dk1"/>
                </a:solidFill>
              </a:rPr>
              <a:t> Colaboração via plataforma strateegia com suporte de IA.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C:</a:t>
            </a:r>
            <a:r>
              <a:rPr lang="pt-BR" sz="1600">
                <a:solidFill>
                  <a:schemeClr val="dk1"/>
                </a:solidFill>
              </a:rPr>
              <a:t> Geração individual via prompting direto em LLM.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D:</a:t>
            </a:r>
            <a:r>
              <a:rPr lang="pt-BR" sz="1600">
                <a:solidFill>
                  <a:schemeClr val="dk1"/>
                </a:solidFill>
              </a:rPr>
              <a:t> Geração via IA a partir da transcrição da sessão do Grupo A.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87" name="Google Shape;487;p46"/>
          <p:cNvSpPr txBox="1"/>
          <p:nvPr/>
        </p:nvSpPr>
        <p:spPr>
          <a:xfrm>
            <a:off x="484675" y="716350"/>
            <a:ext cx="6305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PROTOCOLO EXPERIMENTAL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6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6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6"/>
          <p:cNvSpPr txBox="1"/>
          <p:nvPr/>
        </p:nvSpPr>
        <p:spPr>
          <a:xfrm>
            <a:off x="4771150" y="1932600"/>
            <a:ext cx="38844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Os grupos foram compostos por uma tríade profissional </a:t>
            </a:r>
            <a:r>
              <a:rPr b="1" lang="pt-BR" sz="1600">
                <a:solidFill>
                  <a:schemeClr val="dk1"/>
                </a:solidFill>
              </a:rPr>
              <a:t>(Product Owner, Quality Assurance e Desenvolvedor)</a:t>
            </a:r>
            <a:r>
              <a:rPr lang="pt-BR" sz="1600">
                <a:solidFill>
                  <a:schemeClr val="dk1"/>
                </a:solidFill>
              </a:rPr>
              <a:t>, simulando a multidisciplinaridade real de projetos de software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Os avaliadores foram dois </a:t>
            </a:r>
            <a:r>
              <a:rPr b="1" lang="pt-BR" sz="1600">
                <a:solidFill>
                  <a:schemeClr val="dk1"/>
                </a:solidFill>
              </a:rPr>
              <a:t>Analistas de Requisitos </a:t>
            </a:r>
            <a:r>
              <a:rPr lang="pt-BR" sz="1600">
                <a:solidFill>
                  <a:schemeClr val="dk1"/>
                </a:solidFill>
              </a:rPr>
              <a:t>com vasta experiência no mercado.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/>
          <p:nvPr/>
        </p:nvSpPr>
        <p:spPr>
          <a:xfrm>
            <a:off x="484675" y="173800"/>
            <a:ext cx="6305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PROTOCOLO EXPERIMENTAL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7"/>
          <p:cNvSpPr/>
          <p:nvPr/>
        </p:nvSpPr>
        <p:spPr>
          <a:xfrm>
            <a:off x="5175975" y="-283350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7"/>
          <p:cNvSpPr/>
          <p:nvPr/>
        </p:nvSpPr>
        <p:spPr>
          <a:xfrm>
            <a:off x="7302269" y="-283350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47"/>
          <p:cNvCxnSpPr/>
          <p:nvPr/>
        </p:nvCxnSpPr>
        <p:spPr>
          <a:xfrm>
            <a:off x="1470888" y="4516525"/>
            <a:ext cx="6860400" cy="3300"/>
          </a:xfrm>
          <a:prstGeom prst="straightConnector1">
            <a:avLst/>
          </a:prstGeom>
          <a:noFill/>
          <a:ln cap="flat" cmpd="sng" w="8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7"/>
          <p:cNvCxnSpPr/>
          <p:nvPr/>
        </p:nvCxnSpPr>
        <p:spPr>
          <a:xfrm flipH="1" rot="10800000">
            <a:off x="1473838" y="1485763"/>
            <a:ext cx="12000" cy="3029100"/>
          </a:xfrm>
          <a:prstGeom prst="straightConnector1">
            <a:avLst/>
          </a:prstGeom>
          <a:noFill/>
          <a:ln cap="flat" cmpd="sng" w="8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47"/>
          <p:cNvSpPr txBox="1"/>
          <p:nvPr/>
        </p:nvSpPr>
        <p:spPr>
          <a:xfrm>
            <a:off x="4108038" y="4516525"/>
            <a:ext cx="1586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Suporte de IA</a:t>
            </a:r>
            <a:endParaRPr sz="1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 rot="-5400996">
            <a:off x="160445" y="2765725"/>
            <a:ext cx="20706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Interação Humana</a:t>
            </a:r>
            <a:endParaRPr sz="1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502" name="Google Shape;502;p47"/>
          <p:cNvCxnSpPr>
            <a:stCxn id="500" idx="0"/>
          </p:cNvCxnSpPr>
          <p:nvPr/>
        </p:nvCxnSpPr>
        <p:spPr>
          <a:xfrm rot="10800000">
            <a:off x="4873488" y="1631125"/>
            <a:ext cx="27600" cy="28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7"/>
          <p:cNvCxnSpPr>
            <a:stCxn id="501" idx="2"/>
          </p:cNvCxnSpPr>
          <p:nvPr/>
        </p:nvCxnSpPr>
        <p:spPr>
          <a:xfrm flipH="1" rot="10800000">
            <a:off x="1485545" y="3039925"/>
            <a:ext cx="67815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7"/>
          <p:cNvSpPr txBox="1"/>
          <p:nvPr/>
        </p:nvSpPr>
        <p:spPr>
          <a:xfrm>
            <a:off x="1485850" y="1631125"/>
            <a:ext cx="304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lt1"/>
                </a:solidFill>
                <a:highlight>
                  <a:srgbClr val="FF6002"/>
                </a:highlight>
                <a:latin typeface="Barlow"/>
                <a:ea typeface="Barlow"/>
                <a:cs typeface="Barlow"/>
                <a:sym typeface="Barlow"/>
              </a:rPr>
              <a:t>A </a:t>
            </a:r>
            <a:endParaRPr b="1" sz="2100">
              <a:solidFill>
                <a:schemeClr val="lt1"/>
              </a:solidFill>
              <a:highlight>
                <a:srgbClr val="FF600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5" name="Google Shape;505;p47"/>
          <p:cNvSpPr txBox="1"/>
          <p:nvPr/>
        </p:nvSpPr>
        <p:spPr>
          <a:xfrm>
            <a:off x="304800" y="3048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506" name="Google Shape;506;p47"/>
          <p:cNvSpPr txBox="1"/>
          <p:nvPr/>
        </p:nvSpPr>
        <p:spPr>
          <a:xfrm>
            <a:off x="8027100" y="4018375"/>
            <a:ext cx="304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highlight>
                  <a:srgbClr val="FF6002"/>
                </a:highlight>
                <a:latin typeface="Barlow"/>
                <a:ea typeface="Barlow"/>
                <a:cs typeface="Barlow"/>
                <a:sym typeface="Barlow"/>
              </a:rPr>
              <a:t>C</a:t>
            </a:r>
            <a:endParaRPr b="1" sz="1800">
              <a:solidFill>
                <a:schemeClr val="lt1"/>
              </a:solidFill>
              <a:highlight>
                <a:srgbClr val="FF600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7" name="Google Shape;507;p47"/>
          <p:cNvSpPr txBox="1"/>
          <p:nvPr/>
        </p:nvSpPr>
        <p:spPr>
          <a:xfrm>
            <a:off x="7498250" y="1580575"/>
            <a:ext cx="304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8" name="Google Shape;508;p47"/>
          <p:cNvSpPr txBox="1"/>
          <p:nvPr/>
        </p:nvSpPr>
        <p:spPr>
          <a:xfrm>
            <a:off x="7722900" y="1580575"/>
            <a:ext cx="304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highlight>
                  <a:srgbClr val="FF6002"/>
                </a:highlight>
                <a:latin typeface="Barlow"/>
                <a:ea typeface="Barlow"/>
                <a:cs typeface="Barlow"/>
                <a:sym typeface="Barlow"/>
              </a:rPr>
              <a:t>B</a:t>
            </a:r>
            <a:endParaRPr b="1" sz="1800">
              <a:solidFill>
                <a:schemeClr val="lt1"/>
              </a:solidFill>
              <a:highlight>
                <a:srgbClr val="FF600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9" name="Google Shape;509;p47"/>
          <p:cNvSpPr txBox="1"/>
          <p:nvPr/>
        </p:nvSpPr>
        <p:spPr>
          <a:xfrm>
            <a:off x="8027100" y="1580576"/>
            <a:ext cx="3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highlight>
                  <a:srgbClr val="FF6002"/>
                </a:highlight>
                <a:latin typeface="Barlow"/>
                <a:ea typeface="Barlow"/>
                <a:cs typeface="Barlow"/>
                <a:sym typeface="Barlow"/>
              </a:rPr>
              <a:t>D</a:t>
            </a:r>
            <a:endParaRPr b="1" sz="1800">
              <a:solidFill>
                <a:schemeClr val="lt1"/>
              </a:solidFill>
              <a:highlight>
                <a:srgbClr val="FF6002"/>
              </a:highlight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0" name="Google Shape;510;p47"/>
          <p:cNvSpPr txBox="1"/>
          <p:nvPr/>
        </p:nvSpPr>
        <p:spPr>
          <a:xfrm>
            <a:off x="2639525" y="2010538"/>
            <a:ext cx="1384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Humanos sem IA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1" name="Google Shape;511;p47"/>
          <p:cNvSpPr txBox="1"/>
          <p:nvPr/>
        </p:nvSpPr>
        <p:spPr>
          <a:xfrm>
            <a:off x="6168575" y="3415400"/>
            <a:ext cx="1133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Apenas</a:t>
            </a:r>
            <a:r>
              <a:rPr lang="pt-BR" sz="1800">
                <a:solidFill>
                  <a:schemeClr val="dk2"/>
                </a:solidFill>
              </a:rPr>
              <a:t> IA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2" name="Google Shape;512;p47"/>
          <p:cNvSpPr txBox="1"/>
          <p:nvPr/>
        </p:nvSpPr>
        <p:spPr>
          <a:xfrm>
            <a:off x="6043175" y="2034250"/>
            <a:ext cx="1384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Humanos com</a:t>
            </a:r>
            <a:r>
              <a:rPr lang="pt-BR" sz="1800">
                <a:solidFill>
                  <a:schemeClr val="dk2"/>
                </a:solidFill>
              </a:rPr>
              <a:t> 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"/>
          <p:cNvSpPr txBox="1"/>
          <p:nvPr/>
        </p:nvSpPr>
        <p:spPr>
          <a:xfrm>
            <a:off x="675425" y="330650"/>
            <a:ext cx="3207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VARIÁVEIS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18" name="Google Shape;518;p48"/>
          <p:cNvSpPr txBox="1"/>
          <p:nvPr/>
        </p:nvSpPr>
        <p:spPr>
          <a:xfrm>
            <a:off x="675425" y="2036250"/>
            <a:ext cx="2365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4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Independente</a:t>
            </a:r>
            <a:endParaRPr i="0" sz="2400" u="none" cap="none" strike="noStrike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675425" y="2491750"/>
            <a:ext cx="23652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Corresponde ao método de elicitação adotado.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3389400" y="1919250"/>
            <a:ext cx="2365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4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Dependentes (Qualidade do Processo)</a:t>
            </a:r>
            <a:endParaRPr sz="2400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3389400" y="2491750"/>
            <a:ext cx="23652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Mensuram a percepção dos participantes quanto ao processo.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2" name="Google Shape;522;p48"/>
          <p:cNvSpPr txBox="1"/>
          <p:nvPr/>
        </p:nvSpPr>
        <p:spPr>
          <a:xfrm>
            <a:off x="6103375" y="1919250"/>
            <a:ext cx="2365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400">
                <a:solidFill>
                  <a:srgbClr val="FF6002"/>
                </a:solidFill>
                <a:latin typeface="Barlow Medium"/>
                <a:ea typeface="Barlow Medium"/>
                <a:cs typeface="Barlow Medium"/>
                <a:sym typeface="Barlow Medium"/>
              </a:rPr>
              <a:t>Dependentes (Qualidade do Produto)</a:t>
            </a:r>
            <a:endParaRPr i="0" sz="2400" u="none" cap="none" strike="noStrike">
              <a:solidFill>
                <a:srgbClr val="FF600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23" name="Google Shape;523;p48"/>
          <p:cNvSpPr txBox="1"/>
          <p:nvPr/>
        </p:nvSpPr>
        <p:spPr>
          <a:xfrm>
            <a:off x="6103375" y="2491750"/>
            <a:ext cx="23652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Correspondem à avaliação dos especialistas aos documentos de requisito,s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4" name="Google Shape;524;p48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8"/>
          <p:cNvSpPr/>
          <p:nvPr/>
        </p:nvSpPr>
        <p:spPr>
          <a:xfrm>
            <a:off x="3587450" y="-293150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8"/>
          <p:cNvSpPr/>
          <p:nvPr/>
        </p:nvSpPr>
        <p:spPr>
          <a:xfrm>
            <a:off x="3695894" y="-326362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9"/>
          <p:cNvSpPr txBox="1"/>
          <p:nvPr/>
        </p:nvSpPr>
        <p:spPr>
          <a:xfrm>
            <a:off x="567300" y="1616313"/>
            <a:ext cx="8009400" cy="3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Mensurada através de um questionário (escala Likert de 1 a 5) respondido pelos grupos experimentais </a:t>
            </a:r>
            <a:r>
              <a:rPr lang="pt-BR" sz="1600">
                <a:solidFill>
                  <a:schemeClr val="dk1"/>
                </a:solidFill>
              </a:rPr>
              <a:t>(Percepção dos Participantes)</a:t>
            </a:r>
            <a:r>
              <a:rPr lang="pt-BR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Clareza das etapas</a:t>
            </a:r>
            <a:r>
              <a:rPr b="1" lang="pt-BR" sz="1600">
                <a:solidFill>
                  <a:schemeClr val="dk1"/>
                </a:solidFill>
              </a:rPr>
              <a:t>: </a:t>
            </a:r>
            <a:r>
              <a:rPr lang="pt-BR" sz="1600">
                <a:solidFill>
                  <a:schemeClr val="dk1"/>
                </a:solidFill>
              </a:rPr>
              <a:t>compreensão das fases do processo.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Facilidade de execução:</a:t>
            </a:r>
            <a:r>
              <a:rPr lang="pt-BR" sz="1600">
                <a:solidFill>
                  <a:schemeClr val="dk1"/>
                </a:solidFill>
              </a:rPr>
              <a:t> simplicidade em seguir as instruções.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Fluidez da colaboração: </a:t>
            </a:r>
            <a:r>
              <a:rPr lang="pt-BR" sz="1600">
                <a:solidFill>
                  <a:schemeClr val="dk1"/>
                </a:solidFill>
              </a:rPr>
              <a:t>capacidade do processo em favorecer a coordenação do grupo.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Esforço cognitivo: </a:t>
            </a:r>
            <a:r>
              <a:rPr lang="pt-BR" sz="1600">
                <a:solidFill>
                  <a:schemeClr val="dk1"/>
                </a:solidFill>
              </a:rPr>
              <a:t>nível de exigência mental (escala invertida: notas menores indicam menor esforço).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Adequação da ferramenta: </a:t>
            </a:r>
            <a:r>
              <a:rPr lang="pt-BR" sz="1600">
                <a:solidFill>
                  <a:schemeClr val="dk1"/>
                </a:solidFill>
              </a:rPr>
              <a:t>se o recurso utilizado (ex: strateegia) facilitou o trabalho.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32" name="Google Shape;532;p49"/>
          <p:cNvSpPr txBox="1"/>
          <p:nvPr/>
        </p:nvSpPr>
        <p:spPr>
          <a:xfrm>
            <a:off x="567300" y="282525"/>
            <a:ext cx="46947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CRITÉRIOS DE AVALIAÇÃO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 PROCESSO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0"/>
          <p:cNvSpPr txBox="1"/>
          <p:nvPr/>
        </p:nvSpPr>
        <p:spPr>
          <a:xfrm>
            <a:off x="567300" y="1616313"/>
            <a:ext cx="8009400" cy="3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A avaliação foi baseada em seis atributos fundamentais da norma ISO/IEC/IEEE 29148:2018</a:t>
            </a:r>
            <a:r>
              <a:rPr lang="pt-BR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Completude: </a:t>
            </a:r>
            <a:r>
              <a:rPr lang="pt-BR" sz="1600">
                <a:solidFill>
                  <a:schemeClr val="dk1"/>
                </a:solidFill>
              </a:rPr>
              <a:t>se o documento abrange todas as necessidades essenciais do sistema.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Clareza:</a:t>
            </a:r>
            <a:r>
              <a:rPr lang="pt-BR" sz="1600">
                <a:solidFill>
                  <a:schemeClr val="dk1"/>
                </a:solidFill>
              </a:rPr>
              <a:t> se os requisitos são compreensíveis e objetivos.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Consistência: </a:t>
            </a:r>
            <a:r>
              <a:rPr lang="pt-BR" sz="1600">
                <a:solidFill>
                  <a:schemeClr val="dk1"/>
                </a:solidFill>
              </a:rPr>
              <a:t>ausência de contradições internas no documento.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Ausência de ambiguidade: </a:t>
            </a:r>
            <a:r>
              <a:rPr lang="pt-BR" sz="1600">
                <a:solidFill>
                  <a:schemeClr val="dk1"/>
                </a:solidFill>
              </a:rPr>
              <a:t>se cada requisito permite apenas uma interpretação.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Detalhamento:</a:t>
            </a:r>
            <a:r>
              <a:rPr lang="pt-BR" sz="1600">
                <a:solidFill>
                  <a:schemeClr val="dk1"/>
                </a:solidFill>
              </a:rPr>
              <a:t> se o nível de especificidade é suficiente para a implementação.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Rastreabilidade: </a:t>
            </a:r>
            <a:r>
              <a:rPr lang="pt-BR" sz="1600">
                <a:solidFill>
                  <a:schemeClr val="dk1"/>
                </a:solidFill>
              </a:rPr>
              <a:t>possibilidade de vincular o requisito à sua origem.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40" name="Google Shape;540;p50"/>
          <p:cNvSpPr txBox="1"/>
          <p:nvPr/>
        </p:nvSpPr>
        <p:spPr>
          <a:xfrm>
            <a:off x="567300" y="282525"/>
            <a:ext cx="46947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CRITÉRIOS DE AVALIAÇÃO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 PRODUTO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41" name="Google Shape;541;p50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1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1"/>
          <p:cNvSpPr txBox="1"/>
          <p:nvPr/>
        </p:nvSpPr>
        <p:spPr>
          <a:xfrm>
            <a:off x="567300" y="910913"/>
            <a:ext cx="800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análise seguiu o modelo sequencial explanatório, estruturado em duas fases complementares: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9" name="Google Shape;549;p51"/>
          <p:cNvSpPr txBox="1"/>
          <p:nvPr/>
        </p:nvSpPr>
        <p:spPr>
          <a:xfrm>
            <a:off x="567300" y="246125"/>
            <a:ext cx="6293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ESTRATÉGIA DE AN</a:t>
            </a: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ÁLISE</a:t>
            </a:r>
            <a:endParaRPr i="0" sz="7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0" name="Google Shape;550;p51"/>
          <p:cNvSpPr txBox="1"/>
          <p:nvPr/>
        </p:nvSpPr>
        <p:spPr>
          <a:xfrm>
            <a:off x="567300" y="4159050"/>
            <a:ext cx="8009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Integração (Connecting Point):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Os achados quantitativos foram reinterpretados à luz das evidências qualitativas para consolidar as lições aprendidas e responder à pergunta de pesquisa.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1" name="Google Shape;551;p51"/>
          <p:cNvSpPr txBox="1"/>
          <p:nvPr/>
        </p:nvSpPr>
        <p:spPr>
          <a:xfrm>
            <a:off x="567300" y="14319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 Quantitativa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2" name="Google Shape;552;p51"/>
          <p:cNvSpPr txBox="1"/>
          <p:nvPr/>
        </p:nvSpPr>
        <p:spPr>
          <a:xfrm>
            <a:off x="5576700" y="14319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 Qualitativa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3" name="Google Shape;553;p51"/>
          <p:cNvSpPr txBox="1"/>
          <p:nvPr/>
        </p:nvSpPr>
        <p:spPr>
          <a:xfrm>
            <a:off x="567300" y="2699725"/>
            <a:ext cx="3000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tas atribuídas pelos especialistas (qualidade do produto) e pelos participantes (qualidade do processo). 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5576700" y="2699725"/>
            <a:ext cx="30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nálise interpretativa baseada nas observações do pesquisador, comentários abertos dos questionários e na análise postmortem.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55" name="Google Shape;555;p51"/>
          <p:cNvGrpSpPr/>
          <p:nvPr/>
        </p:nvGrpSpPr>
        <p:grpSpPr>
          <a:xfrm>
            <a:off x="1790058" y="1884808"/>
            <a:ext cx="554500" cy="746992"/>
            <a:chOff x="839542" y="1588608"/>
            <a:chExt cx="256832" cy="345974"/>
          </a:xfrm>
        </p:grpSpPr>
        <p:sp>
          <p:nvSpPr>
            <p:cNvPr id="556" name="Google Shape;556;p51"/>
            <p:cNvSpPr/>
            <p:nvPr/>
          </p:nvSpPr>
          <p:spPr>
            <a:xfrm>
              <a:off x="976301" y="1735421"/>
              <a:ext cx="22173" cy="23520"/>
            </a:xfrm>
            <a:custGeom>
              <a:rect b="b" l="l" r="r" t="t"/>
              <a:pathLst>
                <a:path extrusionOk="0" h="524" w="494">
                  <a:moveTo>
                    <a:pt x="1" y="0"/>
                  </a:moveTo>
                  <a:lnTo>
                    <a:pt x="1" y="523"/>
                  </a:lnTo>
                  <a:lnTo>
                    <a:pt x="494" y="52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937432" y="1735421"/>
              <a:ext cx="22173" cy="23520"/>
            </a:xfrm>
            <a:custGeom>
              <a:rect b="b" l="l" r="r" t="t"/>
              <a:pathLst>
                <a:path extrusionOk="0" h="524" w="494">
                  <a:moveTo>
                    <a:pt x="1" y="0"/>
                  </a:moveTo>
                  <a:lnTo>
                    <a:pt x="1" y="523"/>
                  </a:lnTo>
                  <a:lnTo>
                    <a:pt x="493" y="52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976301" y="1814506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1"/>
                  </a:moveTo>
                  <a:lnTo>
                    <a:pt x="1" y="494"/>
                  </a:lnTo>
                  <a:lnTo>
                    <a:pt x="494" y="494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9" name="Google Shape;559;p51"/>
            <p:cNvSpPr/>
            <p:nvPr/>
          </p:nvSpPr>
          <p:spPr>
            <a:xfrm>
              <a:off x="897217" y="1775637"/>
              <a:ext cx="24193" cy="22173"/>
            </a:xfrm>
            <a:custGeom>
              <a:rect b="b" l="l" r="r" t="t"/>
              <a:pathLst>
                <a:path extrusionOk="0" h="494" w="539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0" name="Google Shape;560;p51"/>
            <p:cNvSpPr/>
            <p:nvPr/>
          </p:nvSpPr>
          <p:spPr>
            <a:xfrm>
              <a:off x="976301" y="1775637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0"/>
                  </a:moveTo>
                  <a:lnTo>
                    <a:pt x="1" y="493"/>
                  </a:lnTo>
                  <a:lnTo>
                    <a:pt x="494" y="49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1015215" y="1775637"/>
              <a:ext cx="24148" cy="22173"/>
            </a:xfrm>
            <a:custGeom>
              <a:rect b="b" l="l" r="r" t="t"/>
              <a:pathLst>
                <a:path extrusionOk="0" h="494" w="538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976301" y="1853375"/>
              <a:ext cx="22173" cy="18852"/>
            </a:xfrm>
            <a:custGeom>
              <a:rect b="b" l="l" r="r" t="t"/>
              <a:pathLst>
                <a:path extrusionOk="0" h="420" w="494">
                  <a:moveTo>
                    <a:pt x="1" y="1"/>
                  </a:moveTo>
                  <a:lnTo>
                    <a:pt x="1" y="419"/>
                  </a:lnTo>
                  <a:lnTo>
                    <a:pt x="494" y="419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897217" y="1814506"/>
              <a:ext cx="24193" cy="22173"/>
            </a:xfrm>
            <a:custGeom>
              <a:rect b="b" l="l" r="r" t="t"/>
              <a:pathLst>
                <a:path extrusionOk="0" h="494" w="539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4" name="Google Shape;564;p51"/>
            <p:cNvSpPr/>
            <p:nvPr/>
          </p:nvSpPr>
          <p:spPr>
            <a:xfrm>
              <a:off x="937432" y="1814506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1"/>
                  </a:moveTo>
                  <a:lnTo>
                    <a:pt x="1" y="494"/>
                  </a:lnTo>
                  <a:lnTo>
                    <a:pt x="493" y="49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5" name="Google Shape;565;p51"/>
            <p:cNvSpPr/>
            <p:nvPr/>
          </p:nvSpPr>
          <p:spPr>
            <a:xfrm>
              <a:off x="937432" y="1775637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0"/>
                  </a:moveTo>
                  <a:lnTo>
                    <a:pt x="1" y="493"/>
                  </a:lnTo>
                  <a:lnTo>
                    <a:pt x="493" y="49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937432" y="1853375"/>
              <a:ext cx="22173" cy="18852"/>
            </a:xfrm>
            <a:custGeom>
              <a:rect b="b" l="l" r="r" t="t"/>
              <a:pathLst>
                <a:path extrusionOk="0" h="420" w="494">
                  <a:moveTo>
                    <a:pt x="1" y="1"/>
                  </a:moveTo>
                  <a:lnTo>
                    <a:pt x="1" y="419"/>
                  </a:lnTo>
                  <a:lnTo>
                    <a:pt x="493" y="41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1015215" y="1853375"/>
              <a:ext cx="24148" cy="18852"/>
            </a:xfrm>
            <a:custGeom>
              <a:rect b="b" l="l" r="r" t="t"/>
              <a:pathLst>
                <a:path extrusionOk="0" h="420" w="538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897217" y="1642917"/>
              <a:ext cx="142151" cy="42955"/>
            </a:xfrm>
            <a:custGeom>
              <a:rect b="b" l="l" r="r" t="t"/>
              <a:pathLst>
                <a:path extrusionOk="0" h="957" w="3167">
                  <a:moveTo>
                    <a:pt x="2450" y="254"/>
                  </a:moveTo>
                  <a:cubicBezTo>
                    <a:pt x="2554" y="254"/>
                    <a:pt x="2629" y="344"/>
                    <a:pt x="2629" y="448"/>
                  </a:cubicBezTo>
                  <a:cubicBezTo>
                    <a:pt x="2629" y="553"/>
                    <a:pt x="2554" y="627"/>
                    <a:pt x="2450" y="627"/>
                  </a:cubicBezTo>
                  <a:lnTo>
                    <a:pt x="2017" y="627"/>
                  </a:lnTo>
                  <a:cubicBezTo>
                    <a:pt x="1912" y="627"/>
                    <a:pt x="1838" y="553"/>
                    <a:pt x="1838" y="448"/>
                  </a:cubicBezTo>
                  <a:cubicBezTo>
                    <a:pt x="1838" y="344"/>
                    <a:pt x="1912" y="254"/>
                    <a:pt x="2017" y="254"/>
                  </a:cubicBezTo>
                  <a:close/>
                  <a:moveTo>
                    <a:pt x="0" y="0"/>
                  </a:moveTo>
                  <a:lnTo>
                    <a:pt x="0" y="956"/>
                  </a:lnTo>
                  <a:lnTo>
                    <a:pt x="3167" y="956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9" name="Google Shape;569;p51"/>
            <p:cNvSpPr/>
            <p:nvPr/>
          </p:nvSpPr>
          <p:spPr>
            <a:xfrm>
              <a:off x="1015215" y="1814506"/>
              <a:ext cx="24148" cy="22173"/>
            </a:xfrm>
            <a:custGeom>
              <a:rect b="b" l="l" r="r" t="t"/>
              <a:pathLst>
                <a:path extrusionOk="0" h="494" w="538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0" name="Google Shape;570;p51"/>
            <p:cNvSpPr/>
            <p:nvPr/>
          </p:nvSpPr>
          <p:spPr>
            <a:xfrm>
              <a:off x="839542" y="1588608"/>
              <a:ext cx="256832" cy="345974"/>
            </a:xfrm>
            <a:custGeom>
              <a:rect b="b" l="l" r="r" t="t"/>
              <a:pathLst>
                <a:path extrusionOk="0" h="7708" w="5722">
                  <a:moveTo>
                    <a:pt x="4631" y="852"/>
                  </a:moveTo>
                  <a:cubicBezTo>
                    <a:pt x="4736" y="852"/>
                    <a:pt x="4810" y="926"/>
                    <a:pt x="4810" y="1031"/>
                  </a:cubicBezTo>
                  <a:lnTo>
                    <a:pt x="4810" y="2360"/>
                  </a:lnTo>
                  <a:cubicBezTo>
                    <a:pt x="4810" y="2450"/>
                    <a:pt x="4736" y="2539"/>
                    <a:pt x="4631" y="2539"/>
                  </a:cubicBezTo>
                  <a:lnTo>
                    <a:pt x="1106" y="2539"/>
                  </a:lnTo>
                  <a:cubicBezTo>
                    <a:pt x="1002" y="2539"/>
                    <a:pt x="912" y="2450"/>
                    <a:pt x="912" y="2360"/>
                  </a:cubicBezTo>
                  <a:lnTo>
                    <a:pt x="912" y="1031"/>
                  </a:lnTo>
                  <a:cubicBezTo>
                    <a:pt x="912" y="926"/>
                    <a:pt x="1002" y="852"/>
                    <a:pt x="1106" y="852"/>
                  </a:cubicBezTo>
                  <a:close/>
                  <a:moveTo>
                    <a:pt x="4631" y="2898"/>
                  </a:moveTo>
                  <a:cubicBezTo>
                    <a:pt x="4736" y="2898"/>
                    <a:pt x="4810" y="2987"/>
                    <a:pt x="4810" y="3077"/>
                  </a:cubicBezTo>
                  <a:lnTo>
                    <a:pt x="4810" y="6497"/>
                  </a:lnTo>
                  <a:cubicBezTo>
                    <a:pt x="4810" y="6602"/>
                    <a:pt x="4736" y="6692"/>
                    <a:pt x="4631" y="6692"/>
                  </a:cubicBezTo>
                  <a:lnTo>
                    <a:pt x="1106" y="6692"/>
                  </a:lnTo>
                  <a:cubicBezTo>
                    <a:pt x="1002" y="6692"/>
                    <a:pt x="912" y="6602"/>
                    <a:pt x="912" y="6497"/>
                  </a:cubicBezTo>
                  <a:lnTo>
                    <a:pt x="912" y="3077"/>
                  </a:lnTo>
                  <a:cubicBezTo>
                    <a:pt x="912" y="2987"/>
                    <a:pt x="1002" y="2898"/>
                    <a:pt x="1106" y="2898"/>
                  </a:cubicBezTo>
                  <a:close/>
                  <a:moveTo>
                    <a:pt x="643" y="0"/>
                  </a:moveTo>
                  <a:cubicBezTo>
                    <a:pt x="285" y="0"/>
                    <a:pt x="1" y="284"/>
                    <a:pt x="1" y="643"/>
                  </a:cubicBezTo>
                  <a:lnTo>
                    <a:pt x="1" y="7080"/>
                  </a:lnTo>
                  <a:cubicBezTo>
                    <a:pt x="1" y="7423"/>
                    <a:pt x="285" y="7707"/>
                    <a:pt x="643" y="7707"/>
                  </a:cubicBezTo>
                  <a:lnTo>
                    <a:pt x="5094" y="7707"/>
                  </a:lnTo>
                  <a:cubicBezTo>
                    <a:pt x="5438" y="7707"/>
                    <a:pt x="5721" y="7423"/>
                    <a:pt x="5721" y="7080"/>
                  </a:cubicBezTo>
                  <a:lnTo>
                    <a:pt x="5721" y="643"/>
                  </a:lnTo>
                  <a:cubicBezTo>
                    <a:pt x="5721" y="284"/>
                    <a:pt x="5438" y="0"/>
                    <a:pt x="5094" y="0"/>
                  </a:cubicBez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897217" y="1735421"/>
              <a:ext cx="24193" cy="23520"/>
            </a:xfrm>
            <a:custGeom>
              <a:rect b="b" l="l" r="r" t="t"/>
              <a:pathLst>
                <a:path extrusionOk="0" h="524" w="539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1015215" y="1735421"/>
              <a:ext cx="24148" cy="23520"/>
            </a:xfrm>
            <a:custGeom>
              <a:rect b="b" l="l" r="r" t="t"/>
              <a:pathLst>
                <a:path extrusionOk="0" h="524" w="538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897217" y="1853375"/>
              <a:ext cx="24193" cy="18852"/>
            </a:xfrm>
            <a:custGeom>
              <a:rect b="b" l="l" r="r" t="t"/>
              <a:pathLst>
                <a:path extrusionOk="0" h="420" w="539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60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7375" lIns="197375" spcFirstLastPara="1" rIns="197375" wrap="square" tIns="197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3"/>
                <a:buFont typeface="Arial"/>
                <a:buNone/>
              </a:pPr>
              <a:r>
                <a:t/>
              </a:r>
              <a:endParaRPr i="0" sz="3023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74" name="Google Shape;574;p51"/>
          <p:cNvGrpSpPr/>
          <p:nvPr/>
        </p:nvGrpSpPr>
        <p:grpSpPr>
          <a:xfrm>
            <a:off x="6699204" y="1884803"/>
            <a:ext cx="755000" cy="746991"/>
            <a:chOff x="946175" y="3619500"/>
            <a:chExt cx="296975" cy="293825"/>
          </a:xfrm>
        </p:grpSpPr>
        <p:sp>
          <p:nvSpPr>
            <p:cNvPr id="575" name="Google Shape;575;p51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6" name="Google Shape;576;p51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7" name="Google Shape;577;p51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FB6B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6650" lIns="196650" spcFirstLastPara="1" rIns="196650" wrap="square" tIns="19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1"/>
                <a:buFont typeface="Arial"/>
                <a:buNone/>
              </a:pPr>
              <a:r>
                <a:t/>
              </a:r>
              <a:endParaRPr i="0" sz="3011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2"/>
          <p:cNvSpPr txBox="1"/>
          <p:nvPr/>
        </p:nvSpPr>
        <p:spPr>
          <a:xfrm>
            <a:off x="567300" y="548988"/>
            <a:ext cx="8009400" cy="4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estudo adotou estratégias para mitigar ameaças em quatro frentes fundamentais: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Interna: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garantida pela padronização das instruções, aplicação do mesmo enunciado-problema e controle do ambiente e do tempo de execução.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Externa: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reforçada pelo uso de papéis reais da indústria 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 Construção: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assegurada pelo uso de critérios normativos da e instrumentos de avaliação validados pela literatura.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 Conclusão: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obtida através da triangulação de evidências e da participação de avaliadores especialistas independentes em um processo de avaliação cega.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confiabilidade do estudo baseia-se na transparência e repetibilidade: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Protocolos Reprodutíveis: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documentação detalhada de todos os passos e guias utilizados no experimento (conforme os Apêndices).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6" name="Google Shape;586;p52"/>
          <p:cNvSpPr txBox="1"/>
          <p:nvPr/>
        </p:nvSpPr>
        <p:spPr>
          <a:xfrm>
            <a:off x="567300" y="61500"/>
            <a:ext cx="49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7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VALIDADE E CONFIABILIDADE</a:t>
            </a:r>
            <a:endParaRPr b="0" i="0" sz="25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2"/>
          <p:cNvSpPr/>
          <p:nvPr/>
        </p:nvSpPr>
        <p:spPr>
          <a:xfrm>
            <a:off x="7305794" y="-313920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3"/>
          <p:cNvSpPr txBox="1"/>
          <p:nvPr/>
        </p:nvSpPr>
        <p:spPr>
          <a:xfrm>
            <a:off x="567300" y="815588"/>
            <a:ext cx="8009400" cy="4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Número reduzido de participantes e avaliadores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o que limita a generalização dos resultados para outros contextos organizacionais ou projetos de maior escala.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qualidade do documento final está diretamente ligada à </a:t>
            </a: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qualidade das interações humanas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plataforma strateegia opera de forma </a:t>
            </a: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predominantemente </a:t>
            </a: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textual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o que restringe o uso de artefatos visuais (como protótipos ou diagramas) que poderiam enriquecer o processo de elicitação.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uso de LLMs introduz incertezas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como a sensibilidade à formulação dos prompts e a possibilidade de gerar conteúdos imprecisos ou inconsistentes.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estudo foi conduzido em um cenário único, com tempo limitado para as sessões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o que pode não refletir a complexidade de domínios técnicos mais profundos ou processos de longa duração.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53"/>
          <p:cNvSpPr txBox="1"/>
          <p:nvPr/>
        </p:nvSpPr>
        <p:spPr>
          <a:xfrm>
            <a:off x="567300" y="150800"/>
            <a:ext cx="4694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LIMITAÇÕES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3"/>
          <p:cNvSpPr/>
          <p:nvPr/>
        </p:nvSpPr>
        <p:spPr>
          <a:xfrm>
            <a:off x="7290919" y="-302530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4"/>
          <p:cNvSpPr/>
          <p:nvPr/>
        </p:nvSpPr>
        <p:spPr>
          <a:xfrm flipH="1">
            <a:off x="0" y="-14875"/>
            <a:ext cx="2491500" cy="5158500"/>
          </a:xfrm>
          <a:prstGeom prst="round1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54" title="Gemini_Generated_Image_x8tfadx8tfadx8tf.png"/>
          <p:cNvPicPr preferRelativeResize="0"/>
          <p:nvPr/>
        </p:nvPicPr>
        <p:blipFill rotWithShape="1">
          <a:blip r:embed="rId3">
            <a:alphaModFix/>
          </a:blip>
          <a:srcRect b="0" l="2390" r="2390" t="0"/>
          <a:stretch/>
        </p:blipFill>
        <p:spPr>
          <a:xfrm>
            <a:off x="1274950" y="297150"/>
            <a:ext cx="2417700" cy="4549200"/>
          </a:xfrm>
          <a:prstGeom prst="roundRect">
            <a:avLst>
              <a:gd fmla="val 50000" name="adj"/>
            </a:avLst>
          </a:prstGeom>
          <a:noFill/>
          <a:ln cap="flat" cmpd="sng" w="762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1" name="Google Shape;601;p54"/>
          <p:cNvSpPr txBox="1"/>
          <p:nvPr/>
        </p:nvSpPr>
        <p:spPr>
          <a:xfrm>
            <a:off x="4172100" y="297150"/>
            <a:ext cx="434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IV</a:t>
            </a: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- Soluç</a:t>
            </a: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ão Proposta e Experimento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4172100" y="1156650"/>
            <a:ext cx="43473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Por quê strateegia?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Hipótese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Delineamento Experimental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Materiais e Instrumentos 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Execução das condições 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Estrutura da análise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Qualidade do processo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Qualidade dos documentos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Validade do Experimento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"/>
              <a:buAutoNum type="arabicPeriod"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Considerações Éticas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603" name="Google Shape;603;p54"/>
          <p:cNvPicPr preferRelativeResize="0"/>
          <p:nvPr/>
        </p:nvPicPr>
        <p:blipFill rotWithShape="1">
          <a:blip r:embed="rId4">
            <a:alphaModFix/>
          </a:blip>
          <a:srcRect b="30" l="0" r="0" t="30"/>
          <a:stretch/>
        </p:blipFill>
        <p:spPr>
          <a:xfrm>
            <a:off x="395525" y="297150"/>
            <a:ext cx="556575" cy="4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4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4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5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1" name="Google Shape;611;p55"/>
          <p:cNvSpPr txBox="1"/>
          <p:nvPr/>
        </p:nvSpPr>
        <p:spPr>
          <a:xfrm>
            <a:off x="484675" y="375550"/>
            <a:ext cx="57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 QUÊ STRATEEGIA?</a:t>
            </a:r>
            <a:endParaRPr i="0" sz="7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5170775" y="-326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5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5"/>
          <p:cNvSpPr txBox="1"/>
          <p:nvPr/>
        </p:nvSpPr>
        <p:spPr>
          <a:xfrm>
            <a:off x="484675" y="1040338"/>
            <a:ext cx="80094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Atua no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gargalo inicial da comunicação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Oferece processos formais de divergência e convergência (jornadas),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organizando o diálogo antes da síntese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Utiliza a IA para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transformar diretamente o debate humano em requisitos técnicos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Assegura um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espaço equitativo de participação através do anonimato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evitando que indivíduos influentes dominem a elicitação, 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Opera no figital, o que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avorece a inteligência coletiva.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Char char="●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Permite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isolar variáveis no experimento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pois o modelo de IA (GPT-4.1) já está integrado nativamente ao seu fluxo de trabalho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20" name="Google Shape;620;p56"/>
          <p:cNvSpPr txBox="1"/>
          <p:nvPr/>
        </p:nvSpPr>
        <p:spPr>
          <a:xfrm>
            <a:off x="484675" y="162050"/>
            <a:ext cx="57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HIPÓTESE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5170775" y="-326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6"/>
          <p:cNvSpPr txBox="1"/>
          <p:nvPr/>
        </p:nvSpPr>
        <p:spPr>
          <a:xfrm>
            <a:off x="484675" y="1170288"/>
            <a:ext cx="80094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H1 – Qualidade do Produto: 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uso da plataforma strateegia com IA gera documentos de requisitos com qualidade superior em relação aos métodos sem IA ou uso isolado de IA.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H2 – Qualidade do Processo: 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utilização da plataforma strateegia resulta em um processo de elicitação percebido pelos participantes como mais claro, colaborativo e com menor exigência cognitiva.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7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29" name="Google Shape;629;p57"/>
          <p:cNvSpPr txBox="1"/>
          <p:nvPr/>
        </p:nvSpPr>
        <p:spPr>
          <a:xfrm>
            <a:off x="409225" y="951525"/>
            <a:ext cx="57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MATERIAIS E INSTRUMENTOS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7"/>
          <p:cNvSpPr txBox="1"/>
          <p:nvPr/>
        </p:nvSpPr>
        <p:spPr>
          <a:xfrm>
            <a:off x="409225" y="1616313"/>
            <a:ext cx="8009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1. Instrumentos de Elicitação (Guias)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Foram elaborados roteiros específicos para orientar cada condição experimental, garantindo que todos partissem do mesmo problema.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Guia JAD + NGT (Grupo A):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Roteiro para condução manual de reuniões síncronas, incluindo ideação silenciosa e discussão em grupo.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Guia JAD + NGT adaptado ao strateegia (Grupo B):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Instruções para a jornada digital, com pontos de debate, decisão e uso do applet writer.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Guia de Prompting (Grupos C e D):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Instruções e comandos (prompts) padronizados para a geração de requisitos via IA.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31" name="Google Shape;631;p57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7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8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38" name="Google Shape;638;p58"/>
          <p:cNvSpPr txBox="1"/>
          <p:nvPr/>
        </p:nvSpPr>
        <p:spPr>
          <a:xfrm>
            <a:off x="484675" y="836600"/>
            <a:ext cx="57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MATERIAIS E INSTRUMENTOS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8"/>
          <p:cNvSpPr txBox="1"/>
          <p:nvPr/>
        </p:nvSpPr>
        <p:spPr>
          <a:xfrm>
            <a:off x="484675" y="1400788"/>
            <a:ext cx="80094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2. Instrumentos de Avaliação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Questionário de Qualidade do Processo: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Aplicado aos participantes após as sessões para medir clareza, facilidade, colaboração e esforço cognitivo.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Questionário de Qualidade do Produto: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Baseado na norma ISO/IEC/IEEE 29148:2018, utilizado pelos especialistas para a avaliação cega dos documentos.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3. Materiais de Apoio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Enunciado-Problema Único: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Descrição do Módulo de Gestão de Reservas de Salas (MGRS) comum a todos os grupos.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TCLE: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Termo de Consentimento Livre e Esclarecido para garantir os princípios éticos com os participantes.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0" name="Google Shape;640;p58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8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9"/>
          <p:cNvSpPr txBox="1"/>
          <p:nvPr/>
        </p:nvSpPr>
        <p:spPr>
          <a:xfrm>
            <a:off x="1515225" y="2054725"/>
            <a:ext cx="28260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Condição A (Colaboração Manual):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realizada em sessão remota e síncrona via videochamada e Google Docs. O grupo seguiu os métodos JAD e NGT, sendo proibido qualquer uso de Inteligência Artificial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7" name="Google Shape;647;p59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8" name="Google Shape;648;p59"/>
          <p:cNvGrpSpPr/>
          <p:nvPr/>
        </p:nvGrpSpPr>
        <p:grpSpPr>
          <a:xfrm>
            <a:off x="834804" y="3119397"/>
            <a:ext cx="487782" cy="631985"/>
            <a:chOff x="1824779" y="2909234"/>
            <a:chExt cx="487782" cy="631985"/>
          </a:xfrm>
        </p:grpSpPr>
        <p:sp>
          <p:nvSpPr>
            <p:cNvPr id="649" name="Google Shape;649;p59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0" name="Google Shape;650;p59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51" name="Google Shape;651;p59"/>
          <p:cNvGrpSpPr/>
          <p:nvPr/>
        </p:nvGrpSpPr>
        <p:grpSpPr>
          <a:xfrm>
            <a:off x="4881485" y="3119389"/>
            <a:ext cx="487782" cy="631985"/>
            <a:chOff x="6810747" y="2909239"/>
            <a:chExt cx="487782" cy="631985"/>
          </a:xfrm>
        </p:grpSpPr>
        <p:sp>
          <p:nvSpPr>
            <p:cNvPr id="652" name="Google Shape;652;p59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3" name="Google Shape;653;p59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54" name="Google Shape;654;p59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9"/>
          <p:cNvSpPr txBox="1"/>
          <p:nvPr/>
        </p:nvSpPr>
        <p:spPr>
          <a:xfrm>
            <a:off x="759850" y="492975"/>
            <a:ext cx="729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EXECUÇÃO DAS CONDIÇÕES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9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9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9"/>
          <p:cNvSpPr txBox="1"/>
          <p:nvPr/>
        </p:nvSpPr>
        <p:spPr>
          <a:xfrm>
            <a:off x="5792888" y="1803838"/>
            <a:ext cx="2826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Condição B (Colaboração via strateegia + IA):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executada dentro da plataforma strateegia. As interações foram síncronas e estruturadas em uma "jornada" digital, com o documento final sendo sintetizado pelo applet writer (IA) a partir das contribuições textuais dos participantes.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 txBox="1"/>
          <p:nvPr/>
        </p:nvSpPr>
        <p:spPr>
          <a:xfrm>
            <a:off x="1515225" y="1587100"/>
            <a:ext cx="28260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Condição C (IA Individual): 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consistiu na geração de requisitos via prompting direto no ChatGPT (GPT-4.1). O modelo recebeu apenas o enunciado-problema e instruções de formatação, sem qualquer debate ou interação humana prévia.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4" name="Google Shape;664;p60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5" name="Google Shape;665;p60"/>
          <p:cNvGrpSpPr/>
          <p:nvPr/>
        </p:nvGrpSpPr>
        <p:grpSpPr>
          <a:xfrm>
            <a:off x="834804" y="3119397"/>
            <a:ext cx="487782" cy="631985"/>
            <a:chOff x="1824779" y="2909234"/>
            <a:chExt cx="487782" cy="631985"/>
          </a:xfrm>
        </p:grpSpPr>
        <p:sp>
          <p:nvSpPr>
            <p:cNvPr id="666" name="Google Shape;666;p60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7" name="Google Shape;667;p60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68" name="Google Shape;668;p60"/>
          <p:cNvGrpSpPr/>
          <p:nvPr/>
        </p:nvGrpSpPr>
        <p:grpSpPr>
          <a:xfrm>
            <a:off x="4881485" y="3119389"/>
            <a:ext cx="487782" cy="631985"/>
            <a:chOff x="6810747" y="2909239"/>
            <a:chExt cx="487782" cy="631985"/>
          </a:xfrm>
        </p:grpSpPr>
        <p:sp>
          <p:nvSpPr>
            <p:cNvPr id="669" name="Google Shape;669;p60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0" name="Google Shape;670;p60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71" name="Google Shape;671;p60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60"/>
          <p:cNvSpPr txBox="1"/>
          <p:nvPr/>
        </p:nvSpPr>
        <p:spPr>
          <a:xfrm>
            <a:off x="759850" y="492975"/>
            <a:ext cx="729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EXECUÇÃO DAS CONDIÇÕES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60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60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60"/>
          <p:cNvSpPr txBox="1"/>
          <p:nvPr/>
        </p:nvSpPr>
        <p:spPr>
          <a:xfrm>
            <a:off x="5792888" y="2090350"/>
            <a:ext cx="28260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Condição D (Transcrição + IA): 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esta condição foi incluída durante a execução. Utilizou a transcrição integral da reunião do Grupo A como contexto para o ChatGPT.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1"/>
          <p:cNvSpPr txBox="1"/>
          <p:nvPr/>
        </p:nvSpPr>
        <p:spPr>
          <a:xfrm>
            <a:off x="675425" y="909400"/>
            <a:ext cx="3207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ESTRUTURA DA ANÁLISE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1" name="Google Shape;681;p61"/>
          <p:cNvSpPr txBox="1"/>
          <p:nvPr/>
        </p:nvSpPr>
        <p:spPr>
          <a:xfrm>
            <a:off x="675425" y="2391475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SURVEY REFLEXIVA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682" name="Google Shape;682;p61"/>
          <p:cNvSpPr txBox="1"/>
          <p:nvPr/>
        </p:nvSpPr>
        <p:spPr>
          <a:xfrm>
            <a:off x="675425" y="2859463"/>
            <a:ext cx="23652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Questionário aplicado aos participantes focado em clareza, facilidade e esforço cognitivo.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3" name="Google Shape;683;p61"/>
          <p:cNvSpPr txBox="1"/>
          <p:nvPr/>
        </p:nvSpPr>
        <p:spPr>
          <a:xfrm>
            <a:off x="3389400" y="2196150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COLETA DE EVIDÊNCIAS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684" name="Google Shape;684;p61"/>
          <p:cNvSpPr txBox="1"/>
          <p:nvPr/>
        </p:nvSpPr>
        <p:spPr>
          <a:xfrm>
            <a:off x="3389400" y="2859463"/>
            <a:ext cx="23652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Registro de desvios do plano original, como a decisão de incluir o Documento D para isolar o impacto da plataforma.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5" name="Google Shape;685;p61"/>
          <p:cNvSpPr txBox="1"/>
          <p:nvPr/>
        </p:nvSpPr>
        <p:spPr>
          <a:xfrm>
            <a:off x="6103375" y="2196150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RECONSTRUÇÃO NARRATIVA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686" name="Google Shape;686;p61"/>
          <p:cNvSpPr txBox="1"/>
          <p:nvPr/>
        </p:nvSpPr>
        <p:spPr>
          <a:xfrm>
            <a:off x="6103375" y="2859463"/>
            <a:ext cx="23652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Relato detalhado das percepções do observador durante a condução das sessões experimentais.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7" name="Google Shape;687;p61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61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61"/>
          <p:cNvSpPr/>
          <p:nvPr/>
        </p:nvSpPr>
        <p:spPr>
          <a:xfrm>
            <a:off x="3719994" y="-2556700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2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5" name="Google Shape;695;p62"/>
          <p:cNvSpPr txBox="1"/>
          <p:nvPr/>
        </p:nvSpPr>
        <p:spPr>
          <a:xfrm>
            <a:off x="484675" y="375550"/>
            <a:ext cx="57000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QUALIDADE DO PROCESSO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62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62"/>
          <p:cNvSpPr/>
          <p:nvPr/>
        </p:nvSpPr>
        <p:spPr>
          <a:xfrm>
            <a:off x="5170775" y="-326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2"/>
          <p:cNvSpPr txBox="1"/>
          <p:nvPr/>
        </p:nvSpPr>
        <p:spPr>
          <a:xfrm>
            <a:off x="484675" y="1040350"/>
            <a:ext cx="81588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Barlow"/>
              <a:buAutoNum type="arabicPeriod"/>
            </a:pPr>
            <a:r>
              <a:rPr b="1" lang="pt-BR" sz="1700">
                <a:latin typeface="Barlow"/>
                <a:ea typeface="Barlow"/>
                <a:cs typeface="Barlow"/>
                <a:sym typeface="Barlow"/>
              </a:rPr>
              <a:t>As etapas do processo foram claras e fáceis de entender?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</a:t>
            </a: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A (sem IA) → 3,3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</a:t>
            </a: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 B (strateegia) →5,0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Barlow"/>
              <a:buAutoNum type="arabicPeriod"/>
            </a:pPr>
            <a:r>
              <a:rPr b="1" lang="pt-BR" sz="1700">
                <a:latin typeface="Barlow"/>
                <a:ea typeface="Barlow"/>
                <a:cs typeface="Barlow"/>
                <a:sym typeface="Barlow"/>
              </a:rPr>
              <a:t>Seguir e executar as instruções do processo foi simples?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A (sem IA) → 4,3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B (strateegia) →5,0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Barlow"/>
              <a:buAutoNum type="arabicPeriod"/>
            </a:pPr>
            <a:r>
              <a:rPr b="1" lang="pt-BR" sz="1700">
                <a:latin typeface="Barlow"/>
                <a:ea typeface="Barlow"/>
                <a:cs typeface="Barlow"/>
                <a:sym typeface="Barlow"/>
              </a:rPr>
              <a:t>O processo favoreceu a colaboração e coordenação entre os participantes?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A (sem IA) → 4,7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B (strateegia) →5,0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Barlow"/>
              <a:buAutoNum type="arabicPeriod"/>
            </a:pPr>
            <a:r>
              <a:rPr b="1" lang="pt-BR" sz="1700">
                <a:latin typeface="Barlow"/>
                <a:ea typeface="Barlow"/>
                <a:cs typeface="Barlow"/>
                <a:sym typeface="Barlow"/>
              </a:rPr>
              <a:t>O processo exigiu alto esforço mental?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A (sem IA) → 3,0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B (strateegia) →3,3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Barlow"/>
              <a:buAutoNum type="arabicPeriod"/>
            </a:pPr>
            <a:r>
              <a:rPr b="1" lang="pt-BR" sz="1700">
                <a:latin typeface="Barlow"/>
                <a:ea typeface="Barlow"/>
                <a:cs typeface="Barlow"/>
                <a:sym typeface="Barlow"/>
              </a:rPr>
              <a:t>A ferramenta utilizada foi adequada e facilitou o trabalho?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A (sem IA) → 5,0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Barlow"/>
                <a:ea typeface="Barlow"/>
                <a:cs typeface="Barlow"/>
                <a:sym typeface="Barlow"/>
              </a:rPr>
              <a:t>-​ B (strateegia) →4,7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340" y="0"/>
            <a:ext cx="858131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3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4"/>
          <p:cNvSpPr txBox="1"/>
          <p:nvPr/>
        </p:nvSpPr>
        <p:spPr>
          <a:xfrm>
            <a:off x="102450" y="50025"/>
            <a:ext cx="6033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6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QUALIDADE DOS DOCUMENTOS</a:t>
            </a:r>
            <a:endParaRPr b="0" i="0" sz="4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5315450" y="-34091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4"/>
          <p:cNvSpPr/>
          <p:nvPr/>
        </p:nvSpPr>
        <p:spPr>
          <a:xfrm>
            <a:off x="7389319" y="-340912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2" name="Google Shape;712;p64"/>
          <p:cNvGraphicFramePr/>
          <p:nvPr/>
        </p:nvGraphicFramePr>
        <p:xfrm>
          <a:off x="235150" y="5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{F25213B3-F16B-40E9-90FE-E62AE806B23E}</a:tableStyleId>
              </a:tblPr>
              <a:tblGrid>
                <a:gridCol w="1819750"/>
                <a:gridCol w="5225225"/>
                <a:gridCol w="418750"/>
                <a:gridCol w="418750"/>
                <a:gridCol w="418750"/>
                <a:gridCol w="418750"/>
              </a:tblGrid>
              <a:tr h="45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Critério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Pergunta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B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C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D</a:t>
                      </a:r>
                      <a:endParaRPr b="1"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65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Completude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documento apresenta requisitos completos, abordando todas as necessidades essenciais do sistema?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Clareza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Os requisitos estão descritos de forma clara, objetiva e fácil de entender?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Consistência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documento está livre de contradições internas entre seus requisitos?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65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Ausência de ambiguidade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Os requisitos são livres de ambiguidade, permitindo apenas uma interpretação?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65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Detalhamento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nível de detalhamento dos requisitos é adequado para entendimento e futura implementação?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65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Rastreabilidade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Os requisitos permitem rastreabilidade clara para suas origens e possíveis artefatos derivados?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  <a:tr h="4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Avaliação geral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Qual sua avaliação geral da qualidade do documento de requisitos?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2,5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3,5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2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13" y="0"/>
            <a:ext cx="86007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5"/>
          <p:cNvSpPr/>
          <p:nvPr/>
        </p:nvSpPr>
        <p:spPr>
          <a:xfrm>
            <a:off x="7389319" y="-340912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6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24" name="Google Shape;724;p66"/>
          <p:cNvSpPr txBox="1"/>
          <p:nvPr/>
        </p:nvSpPr>
        <p:spPr>
          <a:xfrm>
            <a:off x="484675" y="748575"/>
            <a:ext cx="5700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CONSIDERAÇÕES ÉTICAS</a:t>
            </a:r>
            <a:endParaRPr sz="700">
              <a:solidFill>
                <a:srgbClr val="FF600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5" name="Google Shape;725;p66"/>
          <p:cNvSpPr txBox="1"/>
          <p:nvPr/>
        </p:nvSpPr>
        <p:spPr>
          <a:xfrm>
            <a:off x="484675" y="1457088"/>
            <a:ext cx="80094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onsentimento Informado: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Todos os participantes leram e assinaram o Termo de Consentimento Livre e Esclarecido (TCLE), presente nos apêndices da dissertação, antes do início das atividades.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Anonimização: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Garantia de que as identidades dos participantes e especialistas seriam preservadas em qualquer publicação ou apresentação dos resultados.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Autonomia: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Foi garantida a liberdade para que qualquer participante pudesse desistir do experimento a qualquer momento, sem qualquer prejuízo.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Finalidade Acadêmica: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Os dados coletados foram utilizados exclusivamente para fins de pesquisa e desenvolvimento desta dissertação.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Ausência de Custos: </a:t>
            </a:r>
            <a:r>
              <a:rPr lang="pt-BR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Não houve ônus financeiro ou compensação monetária para os envolvidos no estudo.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26" name="Google Shape;726;p66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7"/>
          <p:cNvSpPr/>
          <p:nvPr/>
        </p:nvSpPr>
        <p:spPr>
          <a:xfrm flipH="1">
            <a:off x="0" y="-14875"/>
            <a:ext cx="2491500" cy="5158500"/>
          </a:xfrm>
          <a:prstGeom prst="round1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2" name="Google Shape;732;p67" title="Gemini_Generated_Image_sqkamlsqkamlsqka.png"/>
          <p:cNvPicPr preferRelativeResize="0"/>
          <p:nvPr/>
        </p:nvPicPr>
        <p:blipFill rotWithShape="1">
          <a:blip r:embed="rId3">
            <a:alphaModFix/>
          </a:blip>
          <a:srcRect b="0" l="2390" r="2390" t="0"/>
          <a:stretch/>
        </p:blipFill>
        <p:spPr>
          <a:xfrm>
            <a:off x="1274950" y="297150"/>
            <a:ext cx="2417700" cy="4549200"/>
          </a:xfrm>
          <a:prstGeom prst="roundRect">
            <a:avLst>
              <a:gd fmla="val 50000" name="adj"/>
            </a:avLst>
          </a:prstGeom>
          <a:noFill/>
          <a:ln cap="flat" cmpd="sng" w="7620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3" name="Google Shape;733;p67"/>
          <p:cNvSpPr txBox="1"/>
          <p:nvPr/>
        </p:nvSpPr>
        <p:spPr>
          <a:xfrm>
            <a:off x="4172100" y="297150"/>
            <a:ext cx="434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 - Conclus</a:t>
            </a: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ão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4" name="Google Shape;734;p67"/>
          <p:cNvSpPr txBox="1"/>
          <p:nvPr/>
        </p:nvSpPr>
        <p:spPr>
          <a:xfrm>
            <a:off x="4172100" y="1156650"/>
            <a:ext cx="43473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Resposta às perguntas de pesquisa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Avaliação dos objetivos da pesquisa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Avaliação das Hipóteses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Contribuições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Limitações do Estudo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Trabalhos futuros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Referências Utilizadas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Barlow"/>
              <a:buAutoNum type="arabicPeriod"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Qualificação x 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Dissertação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735" name="Google Shape;735;p67"/>
          <p:cNvPicPr preferRelativeResize="0"/>
          <p:nvPr/>
        </p:nvPicPr>
        <p:blipFill rotWithShape="1">
          <a:blip r:embed="rId4">
            <a:alphaModFix/>
          </a:blip>
          <a:srcRect b="30" l="0" r="0" t="30"/>
          <a:stretch/>
        </p:blipFill>
        <p:spPr>
          <a:xfrm>
            <a:off x="395525" y="297150"/>
            <a:ext cx="556575" cy="4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7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7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7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8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4" name="Google Shape;744;p68"/>
          <p:cNvSpPr txBox="1"/>
          <p:nvPr/>
        </p:nvSpPr>
        <p:spPr>
          <a:xfrm>
            <a:off x="484675" y="375550"/>
            <a:ext cx="60036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RESPOSTA À PERGUNTA CENTRAL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45" name="Google Shape;745;p68"/>
          <p:cNvSpPr/>
          <p:nvPr/>
        </p:nvSpPr>
        <p:spPr>
          <a:xfrm>
            <a:off x="5170775" y="-326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8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8"/>
          <p:cNvSpPr txBox="1"/>
          <p:nvPr/>
        </p:nvSpPr>
        <p:spPr>
          <a:xfrm>
            <a:off x="484675" y="1075200"/>
            <a:ext cx="80094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integração da plataforma colaborativa strateegia com Inteligência Artificial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aprimora a elicitação de requisitos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Ela é capaz de gerar documentos com maior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clareza, completude e consistência normativa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Os resultados comprovam que as abordagens híbridas (Condições B e D)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superam tanto o método puramente manual quanto o uso isolado de IA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Embora o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esforço cognitivo percebido pelos participantes tenha se mantido semelhante às práticas tradicionai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s, a utilização da plataforma foi avaliada como um processo mais </a:t>
            </a: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claro, estruturado e favorável à colaboração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9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53" name="Google Shape;753;p69"/>
          <p:cNvSpPr txBox="1"/>
          <p:nvPr/>
        </p:nvSpPr>
        <p:spPr>
          <a:xfrm>
            <a:off x="484675" y="375550"/>
            <a:ext cx="60036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RESPOSTA ÀS PERGUNTAS COMPLEMENTARES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4" name="Google Shape;754;p69"/>
          <p:cNvSpPr/>
          <p:nvPr/>
        </p:nvSpPr>
        <p:spPr>
          <a:xfrm>
            <a:off x="5170775" y="-326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9"/>
          <p:cNvSpPr/>
          <p:nvPr/>
        </p:nvSpPr>
        <p:spPr>
          <a:xfrm>
            <a:off x="7244644" y="-326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9"/>
          <p:cNvSpPr txBox="1"/>
          <p:nvPr/>
        </p:nvSpPr>
        <p:spPr>
          <a:xfrm>
            <a:off x="567300" y="1520650"/>
            <a:ext cx="80094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Dificuldades: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linguagem natural é inerentemente ambígua, dificultando a tradução de necessidades em especificações técnicas. 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Momentos-chave: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 processo é representado por jornadas estruturadas com pontos de debate, decisão e avaliação. A plataforma organiza o fluxo para que ideias sejam propostas e validadas coletivamente de forma transparente.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Eficácia: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IA (applet writer) demonstrou alta capacidade de sintetizar debates humanos e formalizá-los conforme a norma ISO 29148. 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Integração:</a:t>
            </a:r>
            <a:r>
              <a:rPr lang="pt-BR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 abordagem híbrida gera requisitos mais consistentes, claros e completos do que métodos puramente humanos. 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0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62" name="Google Shape;762;p70"/>
          <p:cNvSpPr txBox="1"/>
          <p:nvPr/>
        </p:nvSpPr>
        <p:spPr>
          <a:xfrm>
            <a:off x="484675" y="375550"/>
            <a:ext cx="4686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AVALIAÇÃO DOS OBJETIVOS DE PESQUISA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3" name="Google Shape;763;p70"/>
          <p:cNvSpPr txBox="1"/>
          <p:nvPr/>
        </p:nvSpPr>
        <p:spPr>
          <a:xfrm>
            <a:off x="484675" y="1636350"/>
            <a:ext cx="68211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Objetivo Geral: </a:t>
            </a:r>
            <a:r>
              <a:rPr b="1" lang="pt-BR" sz="2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atingido </a:t>
            </a:r>
            <a:r>
              <a:rPr lang="pt-BR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✓</a:t>
            </a:r>
            <a:endParaRPr b="1" sz="22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investigação concluída com sucesso através da proposição da abordagem híbrida e da realização do estudo de caso comparativo. </a:t>
            </a:r>
            <a:endParaRPr sz="2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64" name="Google Shape;764;p70"/>
          <p:cNvSpPr/>
          <p:nvPr/>
        </p:nvSpPr>
        <p:spPr>
          <a:xfrm rot="-5400000">
            <a:off x="414092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70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70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70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70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1"/>
          <p:cNvSpPr txBox="1"/>
          <p:nvPr/>
        </p:nvSpPr>
        <p:spPr>
          <a:xfrm>
            <a:off x="1515225" y="1407725"/>
            <a:ext cx="2826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Viabilidade Técnica: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writer provou ser viável para a geração automatizada de documentos a partir de interações coletivas.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4" name="Google Shape;774;p71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5" name="Google Shape;775;p71"/>
          <p:cNvGrpSpPr/>
          <p:nvPr/>
        </p:nvGrpSpPr>
        <p:grpSpPr>
          <a:xfrm>
            <a:off x="834804" y="3119397"/>
            <a:ext cx="487782" cy="631985"/>
            <a:chOff x="1824779" y="2909234"/>
            <a:chExt cx="487782" cy="631985"/>
          </a:xfrm>
        </p:grpSpPr>
        <p:sp>
          <p:nvSpPr>
            <p:cNvPr id="776" name="Google Shape;776;p71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7" name="Google Shape;777;p71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778" name="Google Shape;778;p71"/>
          <p:cNvGrpSpPr/>
          <p:nvPr/>
        </p:nvGrpSpPr>
        <p:grpSpPr>
          <a:xfrm>
            <a:off x="4881485" y="3119389"/>
            <a:ext cx="487782" cy="631985"/>
            <a:chOff x="6810747" y="2909239"/>
            <a:chExt cx="487782" cy="631985"/>
          </a:xfrm>
        </p:grpSpPr>
        <p:sp>
          <p:nvSpPr>
            <p:cNvPr id="779" name="Google Shape;779;p71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0" name="Google Shape;780;p71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781" name="Google Shape;781;p71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1"/>
          <p:cNvSpPr txBox="1"/>
          <p:nvPr/>
        </p:nvSpPr>
        <p:spPr>
          <a:xfrm>
            <a:off x="759850" y="492975"/>
            <a:ext cx="7373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AVALIAÇÃO DOS OBJETIVOS DE PESQUISA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83" name="Google Shape;783;p71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1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1"/>
          <p:cNvSpPr txBox="1"/>
          <p:nvPr/>
        </p:nvSpPr>
        <p:spPr>
          <a:xfrm>
            <a:off x="1545350" y="3119400"/>
            <a:ext cx="2826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 de Qualidade: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Os documentos foram avaliados, permitindo uma validação estruturada dos ganhos de qualidade.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6" name="Google Shape;786;p71"/>
          <p:cNvSpPr txBox="1"/>
          <p:nvPr/>
        </p:nvSpPr>
        <p:spPr>
          <a:xfrm>
            <a:off x="5909550" y="1366500"/>
            <a:ext cx="28260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Comparação de Abordagens: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experimento comparativo evidenciou diferenças relevantes entre os quatro métodos.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7" name="Google Shape;787;p71"/>
          <p:cNvSpPr txBox="1"/>
          <p:nvPr/>
        </p:nvSpPr>
        <p:spPr>
          <a:xfrm>
            <a:off x="5879400" y="3119400"/>
            <a:ext cx="2826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Identificação de Desafios: </a:t>
            </a:r>
            <a:r>
              <a:rPr lang="pt-BR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pesquisa mapeou os fatores críticos e as limitações do uso da IA como mediadora cognitiva.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8" name="Google Shape;788;p71"/>
          <p:cNvSpPr txBox="1"/>
          <p:nvPr/>
        </p:nvSpPr>
        <p:spPr>
          <a:xfrm>
            <a:off x="831625" y="966300"/>
            <a:ext cx="40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Objetivos Específicos: </a:t>
            </a:r>
            <a:r>
              <a:rPr b="1" lang="pt-BR" sz="17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atingidos</a:t>
            </a: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✓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2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4" name="Google Shape;794;p72"/>
          <p:cNvSpPr txBox="1"/>
          <p:nvPr/>
        </p:nvSpPr>
        <p:spPr>
          <a:xfrm>
            <a:off x="484675" y="539250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AVALIAÇÃO DAS HIPÓTESES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484675" y="1204050"/>
            <a:ext cx="800940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H1 – Qualidade dos Requisitos</a:t>
            </a:r>
            <a:endParaRPr b="1"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Hipótese: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 uso de strateegia com IA produzirá documentos de maior qualidade  que os métodos sem IA.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Status: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Corroborada.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Evidências: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Os documentos produzidos com apoio de IA em contextos híbridos (B e D) obtiveram as maiores avaliações dos especialistas.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Destaque: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Documento B (strateegia) e o Documento D (Transcrição + IA) atingiram nota 4,0 na avaliação geral, enquanto o método manual (A) obteve apenas 2,5.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Atributos: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IA mostrou-se superior em completude, clareza e consistência ao sintetizar debates humanos.</a:t>
            </a:r>
            <a:endParaRPr i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2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3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3" name="Google Shape;803;p73"/>
          <p:cNvSpPr txBox="1"/>
          <p:nvPr/>
        </p:nvSpPr>
        <p:spPr>
          <a:xfrm>
            <a:off x="484675" y="528900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AVALIAÇÃO DAS HIPÓTESES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4" name="Google Shape;804;p73"/>
          <p:cNvSpPr txBox="1"/>
          <p:nvPr/>
        </p:nvSpPr>
        <p:spPr>
          <a:xfrm>
            <a:off x="484675" y="1193700"/>
            <a:ext cx="80094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H2 – Qualidade do Processo</a:t>
            </a:r>
            <a:endParaRPr b="1"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Hipótese: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processo com strateegia e IA será percebido como mais claro, colaborativo e menos exigente cognitivamente.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Status: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parcialmente Corroborada.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Evidências Positivas: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os participantes do Grupo B atribuíram nota máxima (5,0) para a clareza das etapas, facilidade de execução e fluidez da colaboração, superando o Grupo A.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Ponto de Atenção: </a:t>
            </a:r>
            <a:r>
              <a:rPr lang="pt-BR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esforço cognitivo percebido não apresentou redução expressiva, com notas de 3,3 para o Grupo B e 3,0 para o Grupo A (escala onde 5 é o maior esforço).</a:t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5" name="Google Shape;805;p73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3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4"/>
          <p:cNvSpPr txBox="1"/>
          <p:nvPr/>
        </p:nvSpPr>
        <p:spPr>
          <a:xfrm>
            <a:off x="675425" y="619400"/>
            <a:ext cx="3207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CONTRIBUIÇÕES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2" name="Google Shape;812;p74"/>
          <p:cNvSpPr txBox="1"/>
          <p:nvPr/>
        </p:nvSpPr>
        <p:spPr>
          <a:xfrm>
            <a:off x="675425" y="1679563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TEÓRICA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813" name="Google Shape;813;p74"/>
          <p:cNvSpPr txBox="1"/>
          <p:nvPr/>
        </p:nvSpPr>
        <p:spPr>
          <a:xfrm>
            <a:off x="675425" y="2147550"/>
            <a:ext cx="23652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estudo amplia a compreensão sobre como a Inteligência Artificial e as plataformas colaborativas interagem em contextos reais de elicitação, preenchendo uma lacuna na literatura sobre o uso de LLMs em dinâmicas coletivas.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4" name="Google Shape;814;p74"/>
          <p:cNvSpPr txBox="1"/>
          <p:nvPr/>
        </p:nvSpPr>
        <p:spPr>
          <a:xfrm>
            <a:off x="3389400" y="1679563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PRÁTICA</a:t>
            </a:r>
            <a:endParaRPr sz="2300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815" name="Google Shape;815;p74"/>
          <p:cNvSpPr txBox="1"/>
          <p:nvPr/>
        </p:nvSpPr>
        <p:spPr>
          <a:xfrm>
            <a:off x="3389400" y="2147550"/>
            <a:ext cx="23652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proposição de um modelo replicável que integra métodos estruturados (JAD e NGT) com ferramentas digitais e suporte de IA, servindo como guia de referência para equipes profissionais.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6" name="Google Shape;816;p74"/>
          <p:cNvSpPr txBox="1"/>
          <p:nvPr/>
        </p:nvSpPr>
        <p:spPr>
          <a:xfrm>
            <a:off x="6103375" y="1679563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TECNOLÓGICA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817" name="Google Shape;817;p74"/>
          <p:cNvSpPr txBox="1"/>
          <p:nvPr/>
        </p:nvSpPr>
        <p:spPr>
          <a:xfrm>
            <a:off x="6103375" y="2147550"/>
            <a:ext cx="23652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validação do applet writer da plataforma strateegia como um instrumento viável e eficaz para transformar debates humanos em documentos técnicos formalizados.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8" name="Google Shape;818;p74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4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74"/>
          <p:cNvSpPr/>
          <p:nvPr/>
        </p:nvSpPr>
        <p:spPr>
          <a:xfrm>
            <a:off x="3719994" y="-2556700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5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26" name="Google Shape;826;p75"/>
          <p:cNvSpPr txBox="1"/>
          <p:nvPr/>
        </p:nvSpPr>
        <p:spPr>
          <a:xfrm>
            <a:off x="484675" y="131650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TRABALHOS FUTUROS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7" name="Google Shape;827;p75"/>
          <p:cNvSpPr txBox="1"/>
          <p:nvPr/>
        </p:nvSpPr>
        <p:spPr>
          <a:xfrm>
            <a:off x="484675" y="796450"/>
            <a:ext cx="80094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Ampliação da Amostra: 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realização de estudos com um número maior de participantes e avaliadores.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Expansão do Escopo da Engenharia de Requisitos: 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aplicar e avaliar o impacto da IA em outras etapas do ciclo de vida.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Diversificação Tecnológica e de Prompting: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investigar o desempenho de diferentes modelos de linguagem (além do GPT) e testar novas estratégias de prompting.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Validação em Ambientes Reais: </a:t>
            </a:r>
            <a:r>
              <a:rPr lang="pt-BR" sz="19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conduzir estudos de caso em cenários reais de desenvolvimento para validar a aplicabilidade prática da abordagem.</a:t>
            </a:r>
            <a:endParaRPr sz="19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8" name="Google Shape;828;p75"/>
          <p:cNvSpPr/>
          <p:nvPr/>
        </p:nvSpPr>
        <p:spPr>
          <a:xfrm>
            <a:off x="5191550" y="-30444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75"/>
          <p:cNvSpPr/>
          <p:nvPr/>
        </p:nvSpPr>
        <p:spPr>
          <a:xfrm>
            <a:off x="7317844" y="-30444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6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35" name="Google Shape;835;p76"/>
          <p:cNvSpPr txBox="1"/>
          <p:nvPr/>
        </p:nvSpPr>
        <p:spPr>
          <a:xfrm>
            <a:off x="484675" y="202575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REFERÊNCIAS UTILIZADAS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36" name="Google Shape;8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0925"/>
            <a:ext cx="4300023" cy="35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78688"/>
            <a:ext cx="4571999" cy="3368832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6"/>
          <p:cNvSpPr/>
          <p:nvPr/>
        </p:nvSpPr>
        <p:spPr>
          <a:xfrm>
            <a:off x="7305794" y="-27068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7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4" name="Google Shape;844;p77"/>
          <p:cNvSpPr txBox="1"/>
          <p:nvPr/>
        </p:nvSpPr>
        <p:spPr>
          <a:xfrm>
            <a:off x="484675" y="202575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REFERÊNCIAS UTILIZADAS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5" name="Google Shape;845;p77"/>
          <p:cNvSpPr txBox="1"/>
          <p:nvPr/>
        </p:nvSpPr>
        <p:spPr>
          <a:xfrm>
            <a:off x="484675" y="867375"/>
            <a:ext cx="80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846" name="Google Shape;84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75" y="845650"/>
            <a:ext cx="4898075" cy="4377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3098" y="867375"/>
            <a:ext cx="3840900" cy="398635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7"/>
          <p:cNvSpPr/>
          <p:nvPr/>
        </p:nvSpPr>
        <p:spPr>
          <a:xfrm>
            <a:off x="7305794" y="-270685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8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54" name="Google Shape;854;p78"/>
          <p:cNvSpPr txBox="1"/>
          <p:nvPr/>
        </p:nvSpPr>
        <p:spPr>
          <a:xfrm>
            <a:off x="484675" y="92625"/>
            <a:ext cx="6003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REFERÊNCIAS UTILIZADAS</a:t>
            </a:r>
            <a:endParaRPr b="1" sz="39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55" name="Google Shape;855;p78"/>
          <p:cNvSpPr/>
          <p:nvPr/>
        </p:nvSpPr>
        <p:spPr>
          <a:xfrm>
            <a:off x="5219000" y="-230620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78"/>
          <p:cNvSpPr/>
          <p:nvPr/>
        </p:nvSpPr>
        <p:spPr>
          <a:xfrm>
            <a:off x="7292869" y="-2306200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7425"/>
            <a:ext cx="5552566" cy="4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8"/>
          <p:cNvSpPr/>
          <p:nvPr/>
        </p:nvSpPr>
        <p:spPr>
          <a:xfrm rot="5400000">
            <a:off x="58967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78"/>
          <p:cNvSpPr/>
          <p:nvPr/>
        </p:nvSpPr>
        <p:spPr>
          <a:xfrm rot="5400000">
            <a:off x="67415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9"/>
          <p:cNvSpPr txBox="1"/>
          <p:nvPr/>
        </p:nvSpPr>
        <p:spPr>
          <a:xfrm>
            <a:off x="484675" y="1893663"/>
            <a:ext cx="800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65" name="Google Shape;865;p79"/>
          <p:cNvSpPr txBox="1"/>
          <p:nvPr/>
        </p:nvSpPr>
        <p:spPr>
          <a:xfrm>
            <a:off x="484675" y="951525"/>
            <a:ext cx="600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pt-BR" sz="37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QUALIFICAÇÃO X DISSERTAÇÃO</a:t>
            </a:r>
            <a:endParaRPr b="1" sz="3700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66" name="Google Shape;866;p79"/>
          <p:cNvSpPr txBox="1"/>
          <p:nvPr/>
        </p:nvSpPr>
        <p:spPr>
          <a:xfrm>
            <a:off x="484675" y="1616325"/>
            <a:ext cx="80094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Execução da Validação Empírica: 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pesquisa avançou da etapa de planejamento para a execução de um experimento controlado.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Inclusão do Documento D: 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Inclusão de uma quarta condição experimental (transcrição de reunião + IA), visando isolar especificamente o impacto da plataforma nos resultados.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 Postmortem Estruturada: </a:t>
            </a:r>
            <a:r>
              <a:rPr lang="pt-BR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Foi incorporada uma análise retrospectiva detalhada para capturar lições aprendidas e fatores humanos.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7" name="Google Shape;867;p79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79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0"/>
          <p:cNvSpPr/>
          <p:nvPr/>
        </p:nvSpPr>
        <p:spPr>
          <a:xfrm>
            <a:off x="-1000" y="-4950"/>
            <a:ext cx="9199500" cy="5143500"/>
          </a:xfrm>
          <a:prstGeom prst="rect">
            <a:avLst/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80"/>
          <p:cNvSpPr txBox="1"/>
          <p:nvPr/>
        </p:nvSpPr>
        <p:spPr>
          <a:xfrm>
            <a:off x="1048338" y="2038200"/>
            <a:ext cx="70473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pt-BR" sz="6000">
                <a:solidFill>
                  <a:srgbClr val="FF6002"/>
                </a:solidFill>
                <a:latin typeface="Kalam"/>
                <a:ea typeface="Kalam"/>
                <a:cs typeface="Kalam"/>
                <a:sym typeface="Kalam"/>
              </a:rPr>
              <a:t>Obrigado</a:t>
            </a:r>
            <a:r>
              <a:rPr b="1" i="0" lang="pt-BR" sz="6000" u="none" cap="none" strike="noStrike">
                <a:solidFill>
                  <a:srgbClr val="FF6002"/>
                </a:solidFill>
                <a:latin typeface="Kalam"/>
                <a:ea typeface="Kalam"/>
                <a:cs typeface="Kalam"/>
                <a:sym typeface="Kalam"/>
              </a:rPr>
              <a:t>!</a:t>
            </a:r>
            <a:endParaRPr b="1" i="0" sz="6000" u="none" cap="none" strike="noStrike">
              <a:solidFill>
                <a:srgbClr val="FF600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1"/>
          <p:cNvSpPr/>
          <p:nvPr/>
        </p:nvSpPr>
        <p:spPr>
          <a:xfrm>
            <a:off x="1850" y="252575"/>
            <a:ext cx="4622700" cy="46227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81"/>
          <p:cNvSpPr/>
          <p:nvPr/>
        </p:nvSpPr>
        <p:spPr>
          <a:xfrm>
            <a:off x="2260650" y="268201"/>
            <a:ext cx="4622700" cy="4622700"/>
          </a:xfrm>
          <a:prstGeom prst="ellipse">
            <a:avLst/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81"/>
          <p:cNvSpPr/>
          <p:nvPr/>
        </p:nvSpPr>
        <p:spPr>
          <a:xfrm>
            <a:off x="6883350" y="252575"/>
            <a:ext cx="4622700" cy="46227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81"/>
          <p:cNvSpPr/>
          <p:nvPr/>
        </p:nvSpPr>
        <p:spPr>
          <a:xfrm rot="-5400000">
            <a:off x="-10327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81"/>
          <p:cNvSpPr/>
          <p:nvPr/>
        </p:nvSpPr>
        <p:spPr>
          <a:xfrm rot="5400000">
            <a:off x="16525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81"/>
          <p:cNvSpPr/>
          <p:nvPr/>
        </p:nvSpPr>
        <p:spPr>
          <a:xfrm rot="5400000">
            <a:off x="24973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1"/>
          <p:cNvSpPr/>
          <p:nvPr/>
        </p:nvSpPr>
        <p:spPr>
          <a:xfrm rot="-5400000">
            <a:off x="7706000" y="-942350"/>
            <a:ext cx="2205000" cy="22473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Google Shape;88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9450" y="507150"/>
            <a:ext cx="1288650" cy="128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7" name="Google Shape;887;p81"/>
          <p:cNvCxnSpPr/>
          <p:nvPr/>
        </p:nvCxnSpPr>
        <p:spPr>
          <a:xfrm>
            <a:off x="4347700" y="1884450"/>
            <a:ext cx="0" cy="1390200"/>
          </a:xfrm>
          <a:prstGeom prst="straightConnector1">
            <a:avLst/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81"/>
          <p:cNvSpPr txBox="1"/>
          <p:nvPr/>
        </p:nvSpPr>
        <p:spPr>
          <a:xfrm>
            <a:off x="4470275" y="2036713"/>
            <a:ext cx="21546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pt-BR" sz="22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MANOEL SALGADO</a:t>
            </a:r>
            <a:endParaRPr b="0" i="0" sz="1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4">
            <a:alphaModFix/>
          </a:blip>
          <a:srcRect b="16960" l="16284" r="16646" t="16682"/>
          <a:stretch/>
        </p:blipFill>
        <p:spPr>
          <a:xfrm>
            <a:off x="4565975" y="2733325"/>
            <a:ext cx="227875" cy="2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950" y="2509275"/>
            <a:ext cx="233900" cy="187247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81"/>
          <p:cNvSpPr txBox="1"/>
          <p:nvPr/>
        </p:nvSpPr>
        <p:spPr>
          <a:xfrm>
            <a:off x="4840275" y="2402550"/>
            <a:ext cx="23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mvsn</a:t>
            </a:r>
            <a:r>
              <a:rPr b="0" i="0" lang="pt-BR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@cesar.school</a:t>
            </a:r>
            <a:endParaRPr b="0" i="0" sz="1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2" name="Google Shape;892;p81"/>
          <p:cNvSpPr txBox="1"/>
          <p:nvPr/>
        </p:nvSpPr>
        <p:spPr>
          <a:xfrm>
            <a:off x="4840275" y="2669050"/>
            <a:ext cx="23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in/</a:t>
            </a: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manoel-salgado</a:t>
            </a:r>
            <a:endParaRPr b="0" i="0" sz="1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893" name="Google Shape;893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6965" y="2139400"/>
            <a:ext cx="951819" cy="84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